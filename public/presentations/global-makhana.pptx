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8288000" cy="10287000"/>
  <p:notesSz cx="6858000" cy="9144000"/>
  <p:embeddedFontLst>
    <p:embeddedFont>
      <p:font typeface="Work Sans Semi-Bold" charset="0"/>
      <p:regular r:id="rId14"/>
    </p:embeddedFont>
    <p:embeddedFont>
      <p:font typeface="Calibri" pitchFamily="34" charset="0"/>
      <p:regular r:id="rId15"/>
      <p:bold r:id="rId16"/>
      <p:italic r:id="rId17"/>
      <p:boldItalic r:id="rId18"/>
    </p:embeddedFont>
    <p:embeddedFont>
      <p:font typeface="Work Sans Bold" charset="0"/>
      <p:regular r:id="rId19"/>
    </p:embeddedFont>
    <p:embeddedFont>
      <p:font typeface="Work Sans" charset="0"/>
      <p:regular r:id="rId20"/>
    </p:embeddedFont>
    <p:embeddedFont>
      <p:font typeface="Canva Sans Bold" charset="0"/>
      <p:regular r:id="rId2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>
        <p:scale>
          <a:sx n="59" d="100"/>
          <a:sy n="59" d="100"/>
        </p:scale>
        <p:origin x="-418" y="-43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5.fntdata"/><Relationship Id="rId3" Type="http://schemas.openxmlformats.org/officeDocument/2006/relationships/slide" Target="slides/slide2.xml"/><Relationship Id="rId21" Type="http://schemas.openxmlformats.org/officeDocument/2006/relationships/font" Target="fonts/font8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font" Target="fonts/font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11/20/2025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sv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sv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2.jpeg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1.svg"/><Relationship Id="rId4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sv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1F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66750" y="666750"/>
            <a:ext cx="16954500" cy="2686050"/>
            <a:chOff x="0" y="0"/>
            <a:chExt cx="4987154" cy="7901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987156" cy="790100"/>
            </a:xfrm>
            <a:custGeom>
              <a:avLst/>
              <a:gdLst/>
              <a:ahLst/>
              <a:cxnLst/>
              <a:rect l="l" t="t" r="r" b="b"/>
              <a:pathLst>
                <a:path w="4987156" h="790100">
                  <a:moveTo>
                    <a:pt x="4640197" y="0"/>
                  </a:moveTo>
                  <a:lnTo>
                    <a:pt x="148415" y="0"/>
                  </a:lnTo>
                  <a:cubicBezTo>
                    <a:pt x="66448" y="0"/>
                    <a:pt x="0" y="66448"/>
                    <a:pt x="0" y="148415"/>
                  </a:cubicBezTo>
                  <a:lnTo>
                    <a:pt x="0" y="510707"/>
                  </a:lnTo>
                  <a:cubicBezTo>
                    <a:pt x="0" y="547218"/>
                    <a:pt x="13458" y="582448"/>
                    <a:pt x="37800" y="609659"/>
                  </a:cubicBezTo>
                  <a:lnTo>
                    <a:pt x="154967" y="740636"/>
                  </a:lnTo>
                  <a:cubicBezTo>
                    <a:pt x="183122" y="772111"/>
                    <a:pt x="223353" y="790101"/>
                    <a:pt x="265584" y="790100"/>
                  </a:cubicBezTo>
                  <a:lnTo>
                    <a:pt x="4838740" y="790100"/>
                  </a:lnTo>
                  <a:cubicBezTo>
                    <a:pt x="4878102" y="790100"/>
                    <a:pt x="4915853" y="774464"/>
                    <a:pt x="4943686" y="746630"/>
                  </a:cubicBezTo>
                  <a:cubicBezTo>
                    <a:pt x="4971519" y="718797"/>
                    <a:pt x="4987156" y="681047"/>
                    <a:pt x="4987156" y="641685"/>
                  </a:cubicBezTo>
                  <a:lnTo>
                    <a:pt x="4987156" y="366141"/>
                  </a:lnTo>
                  <a:cubicBezTo>
                    <a:pt x="4987156" y="329143"/>
                    <a:pt x="4973337" y="293478"/>
                    <a:pt x="4948407" y="266140"/>
                  </a:cubicBezTo>
                  <a:lnTo>
                    <a:pt x="4749864" y="48414"/>
                  </a:lnTo>
                  <a:cubicBezTo>
                    <a:pt x="4721742" y="17574"/>
                    <a:pt x="4681934" y="0"/>
                    <a:pt x="4640197" y="0"/>
                  </a:cubicBezTo>
                  <a:close/>
                </a:path>
              </a:pathLst>
            </a:custGeom>
            <a:solidFill>
              <a:srgbClr val="545F3C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id="4" name="Group 4"/>
          <p:cNvGrpSpPr/>
          <p:nvPr/>
        </p:nvGrpSpPr>
        <p:grpSpPr>
          <a:xfrm>
            <a:off x="10734675" y="7834471"/>
            <a:ext cx="6886575" cy="1785779"/>
            <a:chOff x="0" y="0"/>
            <a:chExt cx="1813748" cy="470329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813748" cy="470329"/>
            </a:xfrm>
            <a:custGeom>
              <a:avLst/>
              <a:gdLst/>
              <a:ahLst/>
              <a:cxnLst/>
              <a:rect l="l" t="t" r="r" b="b"/>
              <a:pathLst>
                <a:path w="1813748" h="470329">
                  <a:moveTo>
                    <a:pt x="44968" y="0"/>
                  </a:moveTo>
                  <a:lnTo>
                    <a:pt x="1768780" y="0"/>
                  </a:lnTo>
                  <a:cubicBezTo>
                    <a:pt x="1780706" y="0"/>
                    <a:pt x="1792144" y="4738"/>
                    <a:pt x="1800577" y="13171"/>
                  </a:cubicBezTo>
                  <a:cubicBezTo>
                    <a:pt x="1809011" y="21604"/>
                    <a:pt x="1813748" y="33042"/>
                    <a:pt x="1813748" y="44968"/>
                  </a:cubicBezTo>
                  <a:lnTo>
                    <a:pt x="1813748" y="425360"/>
                  </a:lnTo>
                  <a:cubicBezTo>
                    <a:pt x="1813748" y="437287"/>
                    <a:pt x="1809011" y="448724"/>
                    <a:pt x="1800577" y="457158"/>
                  </a:cubicBezTo>
                  <a:cubicBezTo>
                    <a:pt x="1792144" y="465591"/>
                    <a:pt x="1780706" y="470329"/>
                    <a:pt x="1768780" y="470329"/>
                  </a:cubicBezTo>
                  <a:lnTo>
                    <a:pt x="44968" y="470329"/>
                  </a:lnTo>
                  <a:cubicBezTo>
                    <a:pt x="33042" y="470329"/>
                    <a:pt x="21604" y="465591"/>
                    <a:pt x="13171" y="457158"/>
                  </a:cubicBezTo>
                  <a:cubicBezTo>
                    <a:pt x="4738" y="448724"/>
                    <a:pt x="0" y="437287"/>
                    <a:pt x="0" y="425360"/>
                  </a:cubicBezTo>
                  <a:lnTo>
                    <a:pt x="0" y="44968"/>
                  </a:lnTo>
                  <a:cubicBezTo>
                    <a:pt x="0" y="33042"/>
                    <a:pt x="4738" y="21604"/>
                    <a:pt x="13171" y="13171"/>
                  </a:cubicBezTo>
                  <a:cubicBezTo>
                    <a:pt x="21604" y="4738"/>
                    <a:pt x="33042" y="0"/>
                    <a:pt x="44968" y="0"/>
                  </a:cubicBezTo>
                  <a:close/>
                </a:path>
              </a:pathLst>
            </a:custGeom>
            <a:solidFill>
              <a:srgbClr val="3D4726"/>
            </a:solidFill>
          </p:spPr>
        </p:sp>
        <p:sp>
          <p:nvSpPr>
            <p:cNvPr id="6" name="TextBox 6"/>
            <p:cNvSpPr txBox="1"/>
            <p:nvPr/>
          </p:nvSpPr>
          <p:spPr>
            <a:xfrm>
              <a:off x="0" y="-57150"/>
              <a:ext cx="1813748" cy="52747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0734675" y="3657600"/>
            <a:ext cx="6886575" cy="3872071"/>
            <a:chOff x="0" y="0"/>
            <a:chExt cx="1066911" cy="599885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066911" cy="599885"/>
            </a:xfrm>
            <a:custGeom>
              <a:avLst/>
              <a:gdLst/>
              <a:ahLst/>
              <a:cxnLst/>
              <a:rect l="l" t="t" r="r" b="b"/>
              <a:pathLst>
                <a:path w="1066911" h="599885">
                  <a:moveTo>
                    <a:pt x="44968" y="0"/>
                  </a:moveTo>
                  <a:lnTo>
                    <a:pt x="1021942" y="0"/>
                  </a:lnTo>
                  <a:cubicBezTo>
                    <a:pt x="1033869" y="0"/>
                    <a:pt x="1045307" y="4738"/>
                    <a:pt x="1053740" y="13171"/>
                  </a:cubicBezTo>
                  <a:cubicBezTo>
                    <a:pt x="1062173" y="21604"/>
                    <a:pt x="1066911" y="33042"/>
                    <a:pt x="1066911" y="44968"/>
                  </a:cubicBezTo>
                  <a:lnTo>
                    <a:pt x="1066911" y="554917"/>
                  </a:lnTo>
                  <a:cubicBezTo>
                    <a:pt x="1066911" y="566843"/>
                    <a:pt x="1062173" y="578281"/>
                    <a:pt x="1053740" y="586714"/>
                  </a:cubicBezTo>
                  <a:cubicBezTo>
                    <a:pt x="1045307" y="595147"/>
                    <a:pt x="1033869" y="599885"/>
                    <a:pt x="1021942" y="599885"/>
                  </a:cubicBezTo>
                  <a:lnTo>
                    <a:pt x="44968" y="599885"/>
                  </a:lnTo>
                  <a:cubicBezTo>
                    <a:pt x="33042" y="599885"/>
                    <a:pt x="21604" y="595147"/>
                    <a:pt x="13171" y="586714"/>
                  </a:cubicBezTo>
                  <a:cubicBezTo>
                    <a:pt x="4738" y="578281"/>
                    <a:pt x="0" y="566843"/>
                    <a:pt x="0" y="554917"/>
                  </a:cubicBezTo>
                  <a:lnTo>
                    <a:pt x="0" y="44968"/>
                  </a:lnTo>
                  <a:cubicBezTo>
                    <a:pt x="0" y="33042"/>
                    <a:pt x="4738" y="21604"/>
                    <a:pt x="13171" y="13171"/>
                  </a:cubicBezTo>
                  <a:cubicBezTo>
                    <a:pt x="21604" y="4738"/>
                    <a:pt x="33042" y="0"/>
                    <a:pt x="44968" y="0"/>
                  </a:cubicBezTo>
                  <a:close/>
                </a:path>
              </a:pathLst>
            </a:custGeom>
            <a:blipFill>
              <a:blip r:embed="rId2"/>
              <a:stretch>
                <a:fillRect l="-39" r="-39"/>
              </a:stretch>
            </a:blipFill>
          </p:spPr>
        </p:sp>
      </p:grpSp>
      <p:grpSp>
        <p:nvGrpSpPr>
          <p:cNvPr id="9" name="Group 9"/>
          <p:cNvGrpSpPr/>
          <p:nvPr/>
        </p:nvGrpSpPr>
        <p:grpSpPr>
          <a:xfrm>
            <a:off x="666750" y="3657600"/>
            <a:ext cx="9763125" cy="5962650"/>
            <a:chOff x="0" y="0"/>
            <a:chExt cx="4083676" cy="2494030"/>
          </a:xfrm>
        </p:grpSpPr>
        <p:sp>
          <p:nvSpPr>
            <p:cNvPr id="10" name="Freeform 10"/>
            <p:cNvSpPr/>
            <p:nvPr/>
          </p:nvSpPr>
          <p:spPr>
            <a:xfrm>
              <a:off x="54483" y="50038"/>
              <a:ext cx="3974583" cy="2394589"/>
            </a:xfrm>
            <a:custGeom>
              <a:avLst/>
              <a:gdLst/>
              <a:ahLst/>
              <a:cxnLst/>
              <a:rect l="l" t="t" r="r" b="b"/>
              <a:pathLst>
                <a:path w="3974583" h="2394589">
                  <a:moveTo>
                    <a:pt x="3886953" y="2394589"/>
                  </a:moveTo>
                  <a:lnTo>
                    <a:pt x="87757" y="2394589"/>
                  </a:lnTo>
                  <a:cubicBezTo>
                    <a:pt x="39370" y="2394589"/>
                    <a:pt x="0" y="2355346"/>
                    <a:pt x="0" y="2306832"/>
                  </a:cubicBezTo>
                  <a:lnTo>
                    <a:pt x="0" y="87757"/>
                  </a:lnTo>
                  <a:cubicBezTo>
                    <a:pt x="0" y="39370"/>
                    <a:pt x="39243" y="0"/>
                    <a:pt x="87757" y="0"/>
                  </a:cubicBezTo>
                  <a:lnTo>
                    <a:pt x="3886826" y="0"/>
                  </a:lnTo>
                  <a:cubicBezTo>
                    <a:pt x="3935213" y="0"/>
                    <a:pt x="3974583" y="39243"/>
                    <a:pt x="3974583" y="87757"/>
                  </a:cubicBezTo>
                  <a:lnTo>
                    <a:pt x="3974583" y="2306832"/>
                  </a:lnTo>
                  <a:cubicBezTo>
                    <a:pt x="3974583" y="2355219"/>
                    <a:pt x="3935340" y="2394589"/>
                    <a:pt x="3886826" y="2394589"/>
                  </a:cubicBezTo>
                  <a:close/>
                </a:path>
              </a:pathLst>
            </a:custGeom>
            <a:blipFill>
              <a:blip r:embed="rId3"/>
              <a:stretch>
                <a:fillRect l="-2764" r="-2764"/>
              </a:stretch>
            </a:blipFill>
          </p:spPr>
        </p:sp>
        <p:sp>
          <p:nvSpPr>
            <p:cNvPr id="11" name="Freeform 11"/>
            <p:cNvSpPr/>
            <p:nvPr/>
          </p:nvSpPr>
          <p:spPr>
            <a:xfrm>
              <a:off x="0" y="0"/>
              <a:ext cx="4083549" cy="2493903"/>
            </a:xfrm>
            <a:custGeom>
              <a:avLst/>
              <a:gdLst/>
              <a:ahLst/>
              <a:cxnLst/>
              <a:rect l="l" t="t" r="r" b="b"/>
              <a:pathLst>
                <a:path w="4083549" h="2493903">
                  <a:moveTo>
                    <a:pt x="0" y="91567"/>
                  </a:moveTo>
                  <a:lnTo>
                    <a:pt x="0" y="2402337"/>
                  </a:lnTo>
                  <a:cubicBezTo>
                    <a:pt x="0" y="2452882"/>
                    <a:pt x="41021" y="2493903"/>
                    <a:pt x="91567" y="2493903"/>
                  </a:cubicBezTo>
                  <a:lnTo>
                    <a:pt x="3991982" y="2493903"/>
                  </a:lnTo>
                  <a:cubicBezTo>
                    <a:pt x="4042528" y="2493903"/>
                    <a:pt x="4083549" y="2452882"/>
                    <a:pt x="4083549" y="2402337"/>
                  </a:cubicBezTo>
                  <a:lnTo>
                    <a:pt x="4083549" y="91567"/>
                  </a:lnTo>
                  <a:cubicBezTo>
                    <a:pt x="4083549" y="41021"/>
                    <a:pt x="4042528" y="0"/>
                    <a:pt x="3991982" y="0"/>
                  </a:cubicBezTo>
                  <a:lnTo>
                    <a:pt x="91567" y="0"/>
                  </a:lnTo>
                  <a:cubicBezTo>
                    <a:pt x="41021" y="0"/>
                    <a:pt x="0" y="41021"/>
                    <a:pt x="0" y="91567"/>
                  </a:cubicBezTo>
                  <a:close/>
                  <a:moveTo>
                    <a:pt x="3241793" y="331724"/>
                  </a:moveTo>
                  <a:lnTo>
                    <a:pt x="3900923" y="331724"/>
                  </a:lnTo>
                  <a:cubicBezTo>
                    <a:pt x="3951469" y="331724"/>
                    <a:pt x="3992490" y="372745"/>
                    <a:pt x="3992490" y="423291"/>
                  </a:cubicBezTo>
                  <a:lnTo>
                    <a:pt x="3992490" y="2311277"/>
                  </a:lnTo>
                  <a:cubicBezTo>
                    <a:pt x="3992490" y="2361823"/>
                    <a:pt x="3951469" y="2402844"/>
                    <a:pt x="3900923" y="2402844"/>
                  </a:cubicBezTo>
                  <a:lnTo>
                    <a:pt x="182753" y="2402844"/>
                  </a:lnTo>
                  <a:cubicBezTo>
                    <a:pt x="132207" y="2402844"/>
                    <a:pt x="91186" y="2361823"/>
                    <a:pt x="91186" y="2311277"/>
                  </a:cubicBezTo>
                  <a:lnTo>
                    <a:pt x="91186" y="182753"/>
                  </a:lnTo>
                  <a:cubicBezTo>
                    <a:pt x="91186" y="132207"/>
                    <a:pt x="132207" y="91186"/>
                    <a:pt x="182753" y="91186"/>
                  </a:cubicBezTo>
                  <a:lnTo>
                    <a:pt x="2944740" y="91186"/>
                  </a:lnTo>
                  <a:cubicBezTo>
                    <a:pt x="2970775" y="91186"/>
                    <a:pt x="2995667" y="102235"/>
                    <a:pt x="3013066" y="121666"/>
                  </a:cubicBezTo>
                  <a:lnTo>
                    <a:pt x="3173721" y="301244"/>
                  </a:lnTo>
                  <a:cubicBezTo>
                    <a:pt x="3191120" y="320675"/>
                    <a:pt x="3215885" y="331724"/>
                    <a:pt x="3242047" y="331724"/>
                  </a:cubicBezTo>
                  <a:lnTo>
                    <a:pt x="3241793" y="331724"/>
                  </a:lnTo>
                  <a:close/>
                </a:path>
              </a:pathLst>
            </a:custGeom>
            <a:solidFill>
              <a:srgbClr val="3D4726"/>
            </a:solidFill>
          </p:spPr>
        </p:sp>
      </p:grpSp>
      <p:sp>
        <p:nvSpPr>
          <p:cNvPr id="12" name="Freeform 12"/>
          <p:cNvSpPr/>
          <p:nvPr/>
        </p:nvSpPr>
        <p:spPr>
          <a:xfrm>
            <a:off x="15220953" y="1376364"/>
            <a:ext cx="1266822" cy="1266822"/>
          </a:xfrm>
          <a:custGeom>
            <a:avLst/>
            <a:gdLst/>
            <a:ahLst/>
            <a:cxnLst/>
            <a:rect l="l" t="t" r="r" b="b"/>
            <a:pathLst>
              <a:path w="1266822" h="1266822">
                <a:moveTo>
                  <a:pt x="0" y="0"/>
                </a:moveTo>
                <a:lnTo>
                  <a:pt x="1266822" y="0"/>
                </a:lnTo>
                <a:lnTo>
                  <a:pt x="1266822" y="1266822"/>
                </a:lnTo>
                <a:lnTo>
                  <a:pt x="0" y="126682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3" name="TextBox 13"/>
          <p:cNvSpPr txBox="1"/>
          <p:nvPr/>
        </p:nvSpPr>
        <p:spPr>
          <a:xfrm>
            <a:off x="1320434" y="1570221"/>
            <a:ext cx="13424266" cy="10350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7600"/>
              </a:lnSpc>
            </a:pPr>
            <a:r>
              <a:rPr lang="en-US" sz="8000" b="1" spc="-440">
                <a:solidFill>
                  <a:srgbClr val="FFF7F7"/>
                </a:solidFill>
                <a:latin typeface="Work Sans Semi-Bold"/>
                <a:ea typeface="Work Sans Semi-Bold"/>
                <a:cs typeface="Work Sans Semi-Bold"/>
                <a:sym typeface="Work Sans Semi-Bold"/>
              </a:rPr>
              <a:t>GLOBAL MAKHANA </a:t>
            </a:r>
          </a:p>
        </p:txBody>
      </p:sp>
      <p:grpSp>
        <p:nvGrpSpPr>
          <p:cNvPr id="14" name="Group 14"/>
          <p:cNvGrpSpPr/>
          <p:nvPr/>
        </p:nvGrpSpPr>
        <p:grpSpPr>
          <a:xfrm>
            <a:off x="11388359" y="8167816"/>
            <a:ext cx="5603210" cy="999890"/>
            <a:chOff x="0" y="0"/>
            <a:chExt cx="7470947" cy="1333187"/>
          </a:xfrm>
        </p:grpSpPr>
        <p:sp>
          <p:nvSpPr>
            <p:cNvPr id="15" name="TextBox 15"/>
            <p:cNvSpPr txBox="1"/>
            <p:nvPr/>
          </p:nvSpPr>
          <p:spPr>
            <a:xfrm>
              <a:off x="0" y="-47625"/>
              <a:ext cx="7470947" cy="6572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900"/>
                </a:lnSpc>
              </a:pPr>
              <a:r>
                <a:rPr lang="en-US" sz="3000" b="1" spc="-165">
                  <a:solidFill>
                    <a:srgbClr val="FFF7F7"/>
                  </a:solidFill>
                  <a:latin typeface="Work Sans Semi-Bold"/>
                  <a:ea typeface="Work Sans Semi-Bold"/>
                  <a:cs typeface="Work Sans Semi-Bold"/>
                  <a:sym typeface="Work Sans Semi-Bold"/>
                </a:rPr>
                <a:t>Presented by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675962"/>
              <a:ext cx="7470947" cy="6572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900"/>
                </a:lnSpc>
              </a:pPr>
              <a:r>
                <a:rPr lang="en-US" sz="3000" spc="-165">
                  <a:solidFill>
                    <a:srgbClr val="FFF7F7"/>
                  </a:solidFill>
                  <a:latin typeface="Work Sans"/>
                  <a:ea typeface="Work Sans"/>
                  <a:cs typeface="Work Sans"/>
                  <a:sym typeface="Work Sans"/>
                </a:rPr>
                <a:t>SHRISTY KUMARI 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1F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28700" y="666750"/>
            <a:ext cx="16954500" cy="8953500"/>
            <a:chOff x="0" y="0"/>
            <a:chExt cx="3299803" cy="174259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299803" cy="1742587"/>
            </a:xfrm>
            <a:custGeom>
              <a:avLst/>
              <a:gdLst/>
              <a:ahLst/>
              <a:cxnLst/>
              <a:rect l="l" t="t" r="r" b="b"/>
              <a:pathLst>
                <a:path w="3299803" h="1742587">
                  <a:moveTo>
                    <a:pt x="965120" y="1606277"/>
                  </a:moveTo>
                  <a:cubicBezTo>
                    <a:pt x="983327" y="1585924"/>
                    <a:pt x="1009342" y="1574291"/>
                    <a:pt x="1036650" y="1574291"/>
                  </a:cubicBezTo>
                  <a:lnTo>
                    <a:pt x="3213538" y="1574626"/>
                  </a:lnTo>
                  <a:cubicBezTo>
                    <a:pt x="3236413" y="1574639"/>
                    <a:pt x="3258355" y="1565561"/>
                    <a:pt x="3274534" y="1549390"/>
                  </a:cubicBezTo>
                  <a:cubicBezTo>
                    <a:pt x="3290713" y="1533220"/>
                    <a:pt x="3299803" y="1511283"/>
                    <a:pt x="3299803" y="1488408"/>
                  </a:cubicBezTo>
                  <a:lnTo>
                    <a:pt x="3299803" y="86219"/>
                  </a:lnTo>
                  <a:cubicBezTo>
                    <a:pt x="3299803" y="63352"/>
                    <a:pt x="3290719" y="41422"/>
                    <a:pt x="3274550" y="25253"/>
                  </a:cubicBezTo>
                  <a:cubicBezTo>
                    <a:pt x="3258381" y="9084"/>
                    <a:pt x="3236451" y="0"/>
                    <a:pt x="3213584" y="0"/>
                  </a:cubicBezTo>
                  <a:lnTo>
                    <a:pt x="303022" y="0"/>
                  </a:lnTo>
                  <a:cubicBezTo>
                    <a:pt x="278489" y="-1"/>
                    <a:pt x="255117" y="10450"/>
                    <a:pt x="238760" y="28735"/>
                  </a:cubicBezTo>
                  <a:lnTo>
                    <a:pt x="21960" y="271092"/>
                  </a:lnTo>
                  <a:cubicBezTo>
                    <a:pt x="7818" y="286900"/>
                    <a:pt x="0" y="307366"/>
                    <a:pt x="0" y="328576"/>
                  </a:cubicBezTo>
                  <a:lnTo>
                    <a:pt x="0" y="1656375"/>
                  </a:lnTo>
                  <a:cubicBezTo>
                    <a:pt x="4" y="1703990"/>
                    <a:pt x="38604" y="1742587"/>
                    <a:pt x="86219" y="1742587"/>
                  </a:cubicBezTo>
                  <a:lnTo>
                    <a:pt x="804624" y="1742587"/>
                  </a:lnTo>
                  <a:cubicBezTo>
                    <a:pt x="829157" y="1742588"/>
                    <a:pt x="852529" y="1732137"/>
                    <a:pt x="868886" y="1713853"/>
                  </a:cubicBezTo>
                  <a:close/>
                </a:path>
              </a:pathLst>
            </a:custGeom>
            <a:solidFill>
              <a:srgbClr val="3D4726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id="4" name="Group 4"/>
          <p:cNvGrpSpPr/>
          <p:nvPr/>
        </p:nvGrpSpPr>
        <p:grpSpPr>
          <a:xfrm>
            <a:off x="2105025" y="1562100"/>
            <a:ext cx="22097987" cy="6748235"/>
            <a:chOff x="0" y="0"/>
            <a:chExt cx="29463982" cy="8997647"/>
          </a:xfrm>
        </p:grpSpPr>
        <p:sp>
          <p:nvSpPr>
            <p:cNvPr id="5" name="TextBox 5"/>
            <p:cNvSpPr txBox="1"/>
            <p:nvPr/>
          </p:nvSpPr>
          <p:spPr>
            <a:xfrm>
              <a:off x="0" y="133350"/>
              <a:ext cx="29463982" cy="128481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6999"/>
                </a:lnSpc>
              </a:pPr>
              <a:r>
                <a:rPr lang="en-US" sz="6999" b="1" spc="-384">
                  <a:solidFill>
                    <a:srgbClr val="FFF7F7"/>
                  </a:solidFill>
                  <a:latin typeface="Work Sans Semi-Bold"/>
                  <a:ea typeface="Work Sans Semi-Bold"/>
                  <a:cs typeface="Work Sans Semi-Bold"/>
                  <a:sym typeface="Work Sans Semi-Bold"/>
                </a:rPr>
                <a:t> 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1755253"/>
              <a:ext cx="29463982" cy="62865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600"/>
                </a:lnSpc>
                <a:spcBef>
                  <a:spcPct val="0"/>
                </a:spcBef>
              </a:pPr>
              <a:endParaRPr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3223803"/>
              <a:ext cx="20116329" cy="577384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949948" lvl="1" indent="-474974" algn="l">
                <a:lnSpc>
                  <a:spcPts val="5719"/>
                </a:lnSpc>
                <a:buFont typeface="Arial"/>
                <a:buChar char="•"/>
              </a:pPr>
              <a:r>
                <a:rPr lang="en-US" sz="4399" spc="-241">
                  <a:solidFill>
                    <a:srgbClr val="FFF7F7"/>
                  </a:solidFill>
                  <a:latin typeface="Work Sans"/>
                  <a:ea typeface="Work Sans"/>
                  <a:cs typeface="Work Sans"/>
                  <a:sym typeface="Work Sans"/>
                </a:rPr>
                <a:t> Bihar produces </a:t>
              </a:r>
              <a:r>
                <a:rPr lang="en-US" sz="4399" b="1" spc="-241">
                  <a:solidFill>
                    <a:srgbClr val="FFF7F7"/>
                  </a:solidFill>
                  <a:latin typeface="Work Sans Bold"/>
                  <a:ea typeface="Work Sans Bold"/>
                  <a:cs typeface="Work Sans Bold"/>
                  <a:sym typeface="Work Sans Bold"/>
                </a:rPr>
                <a:t>85–90% </a:t>
              </a:r>
              <a:r>
                <a:rPr lang="en-US" sz="4399" spc="-241">
                  <a:solidFill>
                    <a:srgbClr val="FFF7F7"/>
                  </a:solidFill>
                  <a:latin typeface="Work Sans"/>
                  <a:ea typeface="Work Sans"/>
                  <a:cs typeface="Work Sans"/>
                  <a:sym typeface="Work Sans"/>
                </a:rPr>
                <a:t>of India's total makhana</a:t>
              </a:r>
            </a:p>
            <a:p>
              <a:pPr marL="949948" lvl="1" indent="-474974" algn="l">
                <a:lnSpc>
                  <a:spcPts val="5719"/>
                </a:lnSpc>
                <a:buFont typeface="Arial"/>
                <a:buChar char="•"/>
              </a:pPr>
              <a:r>
                <a:rPr lang="en-US" sz="4399" spc="-241">
                  <a:solidFill>
                    <a:srgbClr val="FFF7F7"/>
                  </a:solidFill>
                  <a:latin typeface="Work Sans"/>
                  <a:ea typeface="Work Sans"/>
                  <a:cs typeface="Work Sans"/>
                  <a:sym typeface="Work Sans"/>
                </a:rPr>
                <a:t> Annual production: </a:t>
              </a:r>
              <a:r>
                <a:rPr lang="en-US" sz="4399" b="1" spc="-241">
                  <a:solidFill>
                    <a:srgbClr val="FFF7F7"/>
                  </a:solidFill>
                  <a:latin typeface="Work Sans Bold"/>
                  <a:ea typeface="Work Sans Bold"/>
                  <a:cs typeface="Work Sans Bold"/>
                  <a:sym typeface="Work Sans Bold"/>
                </a:rPr>
                <a:t>56,400+</a:t>
              </a:r>
              <a:r>
                <a:rPr lang="en-US" sz="4399" spc="-241">
                  <a:solidFill>
                    <a:srgbClr val="FFF7F7"/>
                  </a:solidFill>
                  <a:latin typeface="Work Sans"/>
                  <a:ea typeface="Work Sans"/>
                  <a:cs typeface="Work Sans"/>
                  <a:sym typeface="Work Sans"/>
                </a:rPr>
                <a:t> tonnes (2023–24)</a:t>
              </a:r>
            </a:p>
            <a:p>
              <a:pPr marL="949948" lvl="1" indent="-474974" algn="l">
                <a:lnSpc>
                  <a:spcPts val="5719"/>
                </a:lnSpc>
                <a:buFont typeface="Arial"/>
                <a:buChar char="•"/>
              </a:pPr>
              <a:r>
                <a:rPr lang="en-US" sz="4399" spc="-241">
                  <a:solidFill>
                    <a:srgbClr val="FFF7F7"/>
                  </a:solidFill>
                  <a:latin typeface="Work Sans"/>
                  <a:ea typeface="Work Sans"/>
                  <a:cs typeface="Work Sans"/>
                  <a:sym typeface="Work Sans"/>
                </a:rPr>
                <a:t>Cultivation area: </a:t>
              </a:r>
              <a:r>
                <a:rPr lang="en-US" sz="4399" b="1" spc="-241">
                  <a:solidFill>
                    <a:srgbClr val="FFF7F7"/>
                  </a:solidFill>
                  <a:latin typeface="Work Sans Bold"/>
                  <a:ea typeface="Work Sans Bold"/>
                  <a:cs typeface="Work Sans Bold"/>
                  <a:sym typeface="Work Sans Bold"/>
                </a:rPr>
                <a:t>27,800</a:t>
              </a:r>
              <a:r>
                <a:rPr lang="en-US" sz="4399" spc="-241">
                  <a:solidFill>
                    <a:srgbClr val="FFF7F7"/>
                  </a:solidFill>
                  <a:latin typeface="Work Sans"/>
                  <a:ea typeface="Work Sans"/>
                  <a:cs typeface="Work Sans"/>
                  <a:sym typeface="Work Sans"/>
                </a:rPr>
                <a:t>+ hectares</a:t>
              </a:r>
            </a:p>
            <a:p>
              <a:pPr marL="949948" lvl="1" indent="-474974" algn="l">
                <a:lnSpc>
                  <a:spcPts val="5719"/>
                </a:lnSpc>
                <a:buFont typeface="Arial"/>
                <a:buChar char="•"/>
              </a:pPr>
              <a:r>
                <a:rPr lang="en-US" sz="4399" spc="-241">
                  <a:solidFill>
                    <a:srgbClr val="FFF7F7"/>
                  </a:solidFill>
                  <a:latin typeface="Work Sans"/>
                  <a:ea typeface="Work Sans"/>
                  <a:cs typeface="Work Sans"/>
                  <a:sym typeface="Work Sans"/>
                </a:rPr>
                <a:t> Supports thousands of families in Mithila</a:t>
              </a:r>
            </a:p>
            <a:p>
              <a:pPr marL="949948" lvl="1" indent="-474974" algn="l">
                <a:lnSpc>
                  <a:spcPts val="5719"/>
                </a:lnSpc>
                <a:buFont typeface="Arial"/>
                <a:buChar char="•"/>
              </a:pPr>
              <a:r>
                <a:rPr lang="en-US" sz="4399" spc="-241">
                  <a:solidFill>
                    <a:srgbClr val="FFF7F7"/>
                  </a:solidFill>
                  <a:latin typeface="Work Sans"/>
                  <a:ea typeface="Work Sans"/>
                  <a:cs typeface="Work Sans"/>
                  <a:sym typeface="Work Sans"/>
                </a:rPr>
                <a:t>Global makhana market: USD </a:t>
              </a:r>
              <a:r>
                <a:rPr lang="en-US" sz="4399" b="1" spc="-241">
                  <a:solidFill>
                    <a:srgbClr val="FFF7F7"/>
                  </a:solidFill>
                  <a:latin typeface="Work Sans Bold"/>
                  <a:ea typeface="Work Sans Bold"/>
                  <a:cs typeface="Work Sans Bold"/>
                  <a:sym typeface="Work Sans Bold"/>
                </a:rPr>
                <a:t>120M by 2030</a:t>
              </a:r>
            </a:p>
            <a:p>
              <a:pPr algn="l">
                <a:lnSpc>
                  <a:spcPts val="5719"/>
                </a:lnSpc>
              </a:pPr>
              <a:r>
                <a:rPr lang="en-US" sz="4399" b="1" spc="-241">
                  <a:solidFill>
                    <a:srgbClr val="FFF7F7"/>
                  </a:solidFill>
                  <a:latin typeface="Work Sans Bold"/>
                  <a:ea typeface="Work Sans Bold"/>
                  <a:cs typeface="Work Sans Bold"/>
                  <a:sym typeface="Work Sans Bold"/>
                </a:rPr>
                <a:t>From Bihar ponds to global Market.</a:t>
              </a:r>
            </a:p>
          </p:txBody>
        </p:sp>
      </p:grpSp>
      <p:sp>
        <p:nvSpPr>
          <p:cNvPr id="8" name="Freeform 8"/>
          <p:cNvSpPr/>
          <p:nvPr/>
        </p:nvSpPr>
        <p:spPr>
          <a:xfrm>
            <a:off x="2613966" y="666750"/>
            <a:ext cx="3878033" cy="3060479"/>
          </a:xfrm>
          <a:custGeom>
            <a:avLst/>
            <a:gdLst/>
            <a:ahLst/>
            <a:cxnLst/>
            <a:rect l="l" t="t" r="r" b="b"/>
            <a:pathLst>
              <a:path w="3878033" h="3060479">
                <a:moveTo>
                  <a:pt x="0" y="0"/>
                </a:moveTo>
                <a:lnTo>
                  <a:pt x="3878033" y="0"/>
                </a:lnTo>
                <a:lnTo>
                  <a:pt x="3878033" y="3060479"/>
                </a:lnTo>
                <a:lnTo>
                  <a:pt x="0" y="306047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747" b="-33055"/>
            </a:stretch>
          </a:blipFill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1F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66750" y="666750"/>
            <a:ext cx="16954500" cy="8953500"/>
            <a:chOff x="0" y="0"/>
            <a:chExt cx="3299803" cy="174259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299803" cy="1742587"/>
            </a:xfrm>
            <a:custGeom>
              <a:avLst/>
              <a:gdLst/>
              <a:ahLst/>
              <a:cxnLst/>
              <a:rect l="l" t="t" r="r" b="b"/>
              <a:pathLst>
                <a:path w="3299803" h="1742587">
                  <a:moveTo>
                    <a:pt x="965120" y="1606277"/>
                  </a:moveTo>
                  <a:cubicBezTo>
                    <a:pt x="983327" y="1585924"/>
                    <a:pt x="1009342" y="1574291"/>
                    <a:pt x="1036650" y="1574291"/>
                  </a:cubicBezTo>
                  <a:lnTo>
                    <a:pt x="3213538" y="1574626"/>
                  </a:lnTo>
                  <a:cubicBezTo>
                    <a:pt x="3236413" y="1574639"/>
                    <a:pt x="3258355" y="1565561"/>
                    <a:pt x="3274534" y="1549390"/>
                  </a:cubicBezTo>
                  <a:cubicBezTo>
                    <a:pt x="3290713" y="1533220"/>
                    <a:pt x="3299803" y="1511283"/>
                    <a:pt x="3299803" y="1488408"/>
                  </a:cubicBezTo>
                  <a:lnTo>
                    <a:pt x="3299803" y="86219"/>
                  </a:lnTo>
                  <a:cubicBezTo>
                    <a:pt x="3299803" y="63352"/>
                    <a:pt x="3290719" y="41422"/>
                    <a:pt x="3274550" y="25253"/>
                  </a:cubicBezTo>
                  <a:cubicBezTo>
                    <a:pt x="3258381" y="9084"/>
                    <a:pt x="3236451" y="0"/>
                    <a:pt x="3213584" y="0"/>
                  </a:cubicBezTo>
                  <a:lnTo>
                    <a:pt x="303022" y="0"/>
                  </a:lnTo>
                  <a:cubicBezTo>
                    <a:pt x="278489" y="-1"/>
                    <a:pt x="255117" y="10450"/>
                    <a:pt x="238760" y="28735"/>
                  </a:cubicBezTo>
                  <a:lnTo>
                    <a:pt x="21960" y="271092"/>
                  </a:lnTo>
                  <a:cubicBezTo>
                    <a:pt x="7818" y="286900"/>
                    <a:pt x="0" y="307366"/>
                    <a:pt x="0" y="328576"/>
                  </a:cubicBezTo>
                  <a:lnTo>
                    <a:pt x="0" y="1656375"/>
                  </a:lnTo>
                  <a:cubicBezTo>
                    <a:pt x="4" y="1703990"/>
                    <a:pt x="38604" y="1742587"/>
                    <a:pt x="86219" y="1742587"/>
                  </a:cubicBezTo>
                  <a:lnTo>
                    <a:pt x="804624" y="1742587"/>
                  </a:lnTo>
                  <a:cubicBezTo>
                    <a:pt x="829157" y="1742588"/>
                    <a:pt x="852529" y="1732137"/>
                    <a:pt x="868886" y="1713853"/>
                  </a:cubicBezTo>
                  <a:close/>
                </a:path>
              </a:pathLst>
            </a:custGeom>
            <a:solidFill>
              <a:srgbClr val="545F3C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id="4" name="Freeform 4"/>
          <p:cNvSpPr/>
          <p:nvPr/>
        </p:nvSpPr>
        <p:spPr>
          <a:xfrm>
            <a:off x="0" y="0"/>
            <a:ext cx="5120602" cy="5120602"/>
          </a:xfrm>
          <a:custGeom>
            <a:avLst/>
            <a:gdLst/>
            <a:ahLst/>
            <a:cxnLst/>
            <a:rect l="l" t="t" r="r" b="b"/>
            <a:pathLst>
              <a:path w="5120602" h="5120602">
                <a:moveTo>
                  <a:pt x="0" y="0"/>
                </a:moveTo>
                <a:lnTo>
                  <a:pt x="5120602" y="0"/>
                </a:lnTo>
                <a:lnTo>
                  <a:pt x="5120602" y="5120602"/>
                </a:lnTo>
                <a:lnTo>
                  <a:pt x="0" y="512060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5" name="Group 5"/>
          <p:cNvGrpSpPr/>
          <p:nvPr/>
        </p:nvGrpSpPr>
        <p:grpSpPr>
          <a:xfrm>
            <a:off x="870873" y="3890876"/>
            <a:ext cx="17247968" cy="4810011"/>
            <a:chOff x="0" y="0"/>
            <a:chExt cx="22997291" cy="6413348"/>
          </a:xfrm>
        </p:grpSpPr>
        <p:sp>
          <p:nvSpPr>
            <p:cNvPr id="6" name="TextBox 6"/>
            <p:cNvSpPr txBox="1"/>
            <p:nvPr/>
          </p:nvSpPr>
          <p:spPr>
            <a:xfrm>
              <a:off x="0" y="-9525"/>
              <a:ext cx="22997291" cy="79919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4718"/>
                </a:lnSpc>
                <a:spcBef>
                  <a:spcPct val="0"/>
                </a:spcBef>
              </a:pPr>
              <a:endParaRPr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1285756"/>
              <a:ext cx="22997291" cy="512759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4398"/>
                </a:lnSpc>
              </a:pPr>
              <a:r>
                <a:rPr lang="en-US" sz="3383" b="1" spc="-186">
                  <a:solidFill>
                    <a:srgbClr val="FFF7F7"/>
                  </a:solidFill>
                  <a:latin typeface="Work Sans Bold"/>
                  <a:ea typeface="Work Sans Bold"/>
                  <a:cs typeface="Work Sans Bold"/>
                  <a:sym typeface="Work Sans Bold"/>
                </a:rPr>
                <a:t>•For:</a:t>
              </a:r>
              <a:r>
                <a:rPr lang="en-US" sz="3383" spc="-186">
                  <a:solidFill>
                    <a:srgbClr val="FFF7F7"/>
                  </a:solidFill>
                  <a:latin typeface="Work Sans"/>
                  <a:ea typeface="Work Sans"/>
                  <a:cs typeface="Work Sans"/>
                  <a:sym typeface="Work Sans"/>
                </a:rPr>
                <a:t> He</a:t>
              </a:r>
              <a:r>
                <a:rPr lang="en-US" sz="3383" u="none" strike="noStrike" spc="-186">
                  <a:solidFill>
                    <a:srgbClr val="FFF7F7"/>
                  </a:solidFill>
                  <a:latin typeface="Work Sans"/>
                  <a:ea typeface="Work Sans"/>
                  <a:cs typeface="Work Sans"/>
                  <a:sym typeface="Work Sans"/>
                </a:rPr>
                <a:t>alth-conscious consumers &amp; global snack buyers</a:t>
              </a:r>
            </a:p>
            <a:p>
              <a:pPr marL="0" lvl="0" indent="0" algn="l">
                <a:lnSpc>
                  <a:spcPts val="4398"/>
                </a:lnSpc>
              </a:pPr>
              <a:r>
                <a:rPr lang="en-US" sz="3383" u="none" strike="noStrike" spc="-186">
                  <a:solidFill>
                    <a:srgbClr val="FFF7F7"/>
                  </a:solidFill>
                  <a:latin typeface="Work Sans"/>
                  <a:ea typeface="Work Sans"/>
                  <a:cs typeface="Work Sans"/>
                  <a:sym typeface="Work Sans"/>
                </a:rPr>
                <a:t>•</a:t>
              </a:r>
              <a:r>
                <a:rPr lang="en-US" sz="3383" b="1" u="none" strike="noStrike" spc="-186">
                  <a:solidFill>
                    <a:srgbClr val="FFF7F7"/>
                  </a:solidFill>
                  <a:latin typeface="Work Sans Bold"/>
                  <a:ea typeface="Work Sans Bold"/>
                  <a:cs typeface="Work Sans Bold"/>
                  <a:sym typeface="Work Sans Bold"/>
                </a:rPr>
                <a:t>Who:</a:t>
              </a:r>
              <a:r>
                <a:rPr lang="en-US" sz="3383" u="none" strike="noStrike" spc="-186">
                  <a:solidFill>
                    <a:srgbClr val="FFF7F7"/>
                  </a:solidFill>
                  <a:latin typeface="Work Sans"/>
                  <a:ea typeface="Work Sans"/>
                  <a:cs typeface="Work Sans"/>
                  <a:sym typeface="Work Sans"/>
                </a:rPr>
                <a:t> Want clean, protein-rich, authentic Indian superfoods</a:t>
              </a:r>
            </a:p>
            <a:p>
              <a:pPr marL="0" lvl="0" indent="0" algn="l">
                <a:lnSpc>
                  <a:spcPts val="4517"/>
                </a:lnSpc>
              </a:pPr>
              <a:r>
                <a:rPr lang="en-US" sz="3474" u="none" strike="noStrike" spc="-191">
                  <a:solidFill>
                    <a:srgbClr val="FFF7F7"/>
                  </a:solidFill>
                  <a:latin typeface="Work Sans"/>
                  <a:ea typeface="Work Sans"/>
                  <a:cs typeface="Work Sans"/>
                  <a:sym typeface="Work Sans"/>
                </a:rPr>
                <a:t>•</a:t>
              </a:r>
              <a:r>
                <a:rPr lang="en-US" sz="3474" b="1" u="none" strike="noStrike" spc="-191">
                  <a:solidFill>
                    <a:srgbClr val="FFF7F7"/>
                  </a:solidFill>
                  <a:latin typeface="Work Sans Bold"/>
                  <a:ea typeface="Work Sans Bold"/>
                  <a:cs typeface="Work Sans Bold"/>
                  <a:sym typeface="Work Sans Bold"/>
                </a:rPr>
                <a:t>Our product is</a:t>
              </a:r>
              <a:r>
                <a:rPr lang="en-US" sz="3474" u="none" strike="noStrike" spc="-191">
                  <a:solidFill>
                    <a:srgbClr val="FFF7F7"/>
                  </a:solidFill>
                  <a:latin typeface="Work Sans"/>
                  <a:ea typeface="Work Sans"/>
                  <a:cs typeface="Work Sans"/>
                  <a:sym typeface="Work Sans"/>
                </a:rPr>
                <a:t>: Premium farm-to-pack makhana brand</a:t>
              </a:r>
            </a:p>
            <a:p>
              <a:pPr marL="0" lvl="0" indent="0" algn="l">
                <a:lnSpc>
                  <a:spcPts val="4398"/>
                </a:lnSpc>
              </a:pPr>
              <a:r>
                <a:rPr lang="en-US" sz="3383" u="none" strike="noStrike" spc="-186">
                  <a:solidFill>
                    <a:srgbClr val="FFF7F7"/>
                  </a:solidFill>
                  <a:latin typeface="Work Sans"/>
                  <a:ea typeface="Work Sans"/>
                  <a:cs typeface="Work Sans"/>
                  <a:sym typeface="Work Sans"/>
                </a:rPr>
                <a:t>•</a:t>
              </a:r>
              <a:r>
                <a:rPr lang="en-US" sz="3383" b="1" u="none" strike="noStrike" spc="-186">
                  <a:solidFill>
                    <a:srgbClr val="FFF7F7"/>
                  </a:solidFill>
                  <a:latin typeface="Work Sans Bold"/>
                  <a:ea typeface="Work Sans Bold"/>
                  <a:cs typeface="Work Sans Bold"/>
                  <a:sym typeface="Work Sans Bold"/>
                </a:rPr>
                <a:t>Provides</a:t>
              </a:r>
              <a:r>
                <a:rPr lang="en-US" sz="3383" u="none" strike="noStrike" spc="-186">
                  <a:solidFill>
                    <a:srgbClr val="FFF7F7"/>
                  </a:solidFill>
                  <a:latin typeface="Work Sans"/>
                  <a:ea typeface="Work Sans"/>
                  <a:cs typeface="Work Sans"/>
                  <a:sym typeface="Work Sans"/>
                </a:rPr>
                <a:t>: Traceable quality, export-standard processing</a:t>
              </a:r>
            </a:p>
            <a:p>
              <a:pPr marL="0" lvl="0" indent="0" algn="l">
                <a:lnSpc>
                  <a:spcPts val="4398"/>
                </a:lnSpc>
              </a:pPr>
              <a:r>
                <a:rPr lang="en-US" sz="3383" u="none" strike="noStrike" spc="-186">
                  <a:solidFill>
                    <a:srgbClr val="FFF7F7"/>
                  </a:solidFill>
                  <a:latin typeface="Work Sans"/>
                  <a:ea typeface="Work Sans"/>
                  <a:cs typeface="Work Sans"/>
                  <a:sym typeface="Work Sans"/>
                </a:rPr>
                <a:t>•</a:t>
              </a:r>
              <a:r>
                <a:rPr lang="en-US" sz="3383" b="1" u="none" strike="noStrike" spc="-186">
                  <a:solidFill>
                    <a:srgbClr val="FFF7F7"/>
                  </a:solidFill>
                  <a:latin typeface="Work Sans Bold"/>
                  <a:ea typeface="Work Sans Bold"/>
                  <a:cs typeface="Work Sans Bold"/>
                  <a:sym typeface="Work Sans Bold"/>
                </a:rPr>
                <a:t>Unlike</a:t>
              </a:r>
              <a:r>
                <a:rPr lang="en-US" sz="3383" u="none" strike="noStrike" spc="-186">
                  <a:solidFill>
                    <a:srgbClr val="FFF7F7"/>
                  </a:solidFill>
                  <a:latin typeface="Work Sans"/>
                  <a:ea typeface="Work Sans"/>
                  <a:cs typeface="Work Sans"/>
                  <a:sym typeface="Work Sans"/>
                </a:rPr>
                <a:t>: Unorganized sellers with poor consistency</a:t>
              </a:r>
            </a:p>
            <a:p>
              <a:pPr marL="0" lvl="0" indent="0" algn="l">
                <a:lnSpc>
                  <a:spcPts val="4398"/>
                </a:lnSpc>
              </a:pPr>
              <a:r>
                <a:rPr lang="en-US" sz="3383" u="none" strike="noStrike" spc="-186">
                  <a:solidFill>
                    <a:srgbClr val="FFF7F7"/>
                  </a:solidFill>
                  <a:latin typeface="Work Sans"/>
                  <a:ea typeface="Work Sans"/>
                  <a:cs typeface="Work Sans"/>
                  <a:sym typeface="Work Sans"/>
                </a:rPr>
                <a:t>•</a:t>
              </a:r>
              <a:r>
                <a:rPr lang="en-US" sz="3383" b="1" u="none" strike="noStrike" spc="-186">
                  <a:solidFill>
                    <a:srgbClr val="FFF7F7"/>
                  </a:solidFill>
                  <a:latin typeface="Work Sans Bold"/>
                  <a:ea typeface="Work Sans Bold"/>
                  <a:cs typeface="Work Sans Bold"/>
                  <a:sym typeface="Work Sans Bold"/>
                </a:rPr>
                <a:t>We offer</a:t>
              </a:r>
              <a:r>
                <a:rPr lang="en-US" sz="3383" u="none" strike="noStrike" spc="-186">
                  <a:solidFill>
                    <a:srgbClr val="FFF7F7"/>
                  </a:solidFill>
                  <a:latin typeface="Work Sans"/>
                  <a:ea typeface="Work Sans"/>
                  <a:cs typeface="Work Sans"/>
                  <a:sym typeface="Work Sans"/>
                </a:rPr>
                <a:t>: Direct sourcing + processing + global reach via TradeIndia &amp; IndiaMART</a:t>
              </a:r>
            </a:p>
            <a:p>
              <a:pPr marL="0" lvl="0" indent="0" algn="l">
                <a:lnSpc>
                  <a:spcPts val="4041"/>
                </a:lnSpc>
              </a:pPr>
              <a:endParaRPr lang="en-US" sz="3383" u="none" strike="noStrike" spc="-186">
                <a:solidFill>
                  <a:srgbClr val="FFF7F7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5763258" y="895350"/>
            <a:ext cx="7786135" cy="12551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356"/>
              </a:lnSpc>
            </a:pPr>
            <a:r>
              <a:rPr lang="en-US" sz="7397" b="1">
                <a:solidFill>
                  <a:srgbClr val="FFF7F7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Idea Expression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1F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66750" y="666750"/>
            <a:ext cx="16954500" cy="2686050"/>
            <a:chOff x="0" y="0"/>
            <a:chExt cx="4987154" cy="7901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987156" cy="790100"/>
            </a:xfrm>
            <a:custGeom>
              <a:avLst/>
              <a:gdLst/>
              <a:ahLst/>
              <a:cxnLst/>
              <a:rect l="l" t="t" r="r" b="b"/>
              <a:pathLst>
                <a:path w="4987156" h="790100">
                  <a:moveTo>
                    <a:pt x="4640197" y="0"/>
                  </a:moveTo>
                  <a:lnTo>
                    <a:pt x="148415" y="0"/>
                  </a:lnTo>
                  <a:cubicBezTo>
                    <a:pt x="66448" y="0"/>
                    <a:pt x="0" y="66448"/>
                    <a:pt x="0" y="148415"/>
                  </a:cubicBezTo>
                  <a:lnTo>
                    <a:pt x="0" y="510707"/>
                  </a:lnTo>
                  <a:cubicBezTo>
                    <a:pt x="0" y="547218"/>
                    <a:pt x="13458" y="582448"/>
                    <a:pt x="37800" y="609659"/>
                  </a:cubicBezTo>
                  <a:lnTo>
                    <a:pt x="154967" y="740636"/>
                  </a:lnTo>
                  <a:cubicBezTo>
                    <a:pt x="183122" y="772111"/>
                    <a:pt x="223353" y="790101"/>
                    <a:pt x="265584" y="790100"/>
                  </a:cubicBezTo>
                  <a:lnTo>
                    <a:pt x="4838740" y="790100"/>
                  </a:lnTo>
                  <a:cubicBezTo>
                    <a:pt x="4878102" y="790100"/>
                    <a:pt x="4915853" y="774464"/>
                    <a:pt x="4943686" y="746630"/>
                  </a:cubicBezTo>
                  <a:cubicBezTo>
                    <a:pt x="4971519" y="718797"/>
                    <a:pt x="4987156" y="681047"/>
                    <a:pt x="4987156" y="641685"/>
                  </a:cubicBezTo>
                  <a:lnTo>
                    <a:pt x="4987156" y="366141"/>
                  </a:lnTo>
                  <a:cubicBezTo>
                    <a:pt x="4987156" y="329143"/>
                    <a:pt x="4973337" y="293478"/>
                    <a:pt x="4948407" y="266140"/>
                  </a:cubicBezTo>
                  <a:lnTo>
                    <a:pt x="4749864" y="48414"/>
                  </a:lnTo>
                  <a:cubicBezTo>
                    <a:pt x="4721742" y="17574"/>
                    <a:pt x="4681934" y="0"/>
                    <a:pt x="4640197" y="0"/>
                  </a:cubicBezTo>
                  <a:close/>
                </a:path>
              </a:pathLst>
            </a:custGeom>
            <a:solidFill>
              <a:srgbClr val="3D4726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id="4" name="Group 4"/>
          <p:cNvGrpSpPr/>
          <p:nvPr/>
        </p:nvGrpSpPr>
        <p:grpSpPr>
          <a:xfrm>
            <a:off x="436304" y="3803863"/>
            <a:ext cx="8208265" cy="5962650"/>
            <a:chOff x="0" y="0"/>
            <a:chExt cx="2161848" cy="157041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161848" cy="1570410"/>
            </a:xfrm>
            <a:custGeom>
              <a:avLst/>
              <a:gdLst/>
              <a:ahLst/>
              <a:cxnLst/>
              <a:rect l="l" t="t" r="r" b="b"/>
              <a:pathLst>
                <a:path w="2161848" h="1570410">
                  <a:moveTo>
                    <a:pt x="37727" y="0"/>
                  </a:moveTo>
                  <a:lnTo>
                    <a:pt x="2124120" y="0"/>
                  </a:lnTo>
                  <a:cubicBezTo>
                    <a:pt x="2144956" y="0"/>
                    <a:pt x="2161848" y="16891"/>
                    <a:pt x="2161848" y="37727"/>
                  </a:cubicBezTo>
                  <a:lnTo>
                    <a:pt x="2161848" y="1532682"/>
                  </a:lnTo>
                  <a:cubicBezTo>
                    <a:pt x="2161848" y="1553519"/>
                    <a:pt x="2144956" y="1570410"/>
                    <a:pt x="2124120" y="1570410"/>
                  </a:cubicBezTo>
                  <a:lnTo>
                    <a:pt x="37727" y="1570410"/>
                  </a:lnTo>
                  <a:cubicBezTo>
                    <a:pt x="16891" y="1570410"/>
                    <a:pt x="0" y="1553519"/>
                    <a:pt x="0" y="1532682"/>
                  </a:cubicBezTo>
                  <a:lnTo>
                    <a:pt x="0" y="37727"/>
                  </a:lnTo>
                  <a:cubicBezTo>
                    <a:pt x="0" y="16891"/>
                    <a:pt x="16891" y="0"/>
                    <a:pt x="37727" y="0"/>
                  </a:cubicBezTo>
                  <a:close/>
                </a:path>
              </a:pathLst>
            </a:custGeom>
            <a:solidFill>
              <a:srgbClr val="3D4726"/>
            </a:solidFill>
          </p:spPr>
        </p:sp>
        <p:sp>
          <p:nvSpPr>
            <p:cNvPr id="6" name="TextBox 6"/>
            <p:cNvSpPr txBox="1"/>
            <p:nvPr/>
          </p:nvSpPr>
          <p:spPr>
            <a:xfrm>
              <a:off x="0" y="-57150"/>
              <a:ext cx="2161848" cy="162756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sp>
        <p:nvSpPr>
          <p:cNvPr id="7" name="Freeform 7"/>
          <p:cNvSpPr/>
          <p:nvPr/>
        </p:nvSpPr>
        <p:spPr>
          <a:xfrm>
            <a:off x="1063466" y="4269768"/>
            <a:ext cx="460534" cy="460534"/>
          </a:xfrm>
          <a:custGeom>
            <a:avLst/>
            <a:gdLst/>
            <a:ahLst/>
            <a:cxnLst/>
            <a:rect l="l" t="t" r="r" b="b"/>
            <a:pathLst>
              <a:path w="460534" h="460534">
                <a:moveTo>
                  <a:pt x="0" y="0"/>
                </a:moveTo>
                <a:lnTo>
                  <a:pt x="460534" y="0"/>
                </a:lnTo>
                <a:lnTo>
                  <a:pt x="460534" y="460534"/>
                </a:lnTo>
                <a:lnTo>
                  <a:pt x="0" y="46053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8" name="Group 8"/>
          <p:cNvGrpSpPr/>
          <p:nvPr/>
        </p:nvGrpSpPr>
        <p:grpSpPr>
          <a:xfrm>
            <a:off x="9320830" y="3657600"/>
            <a:ext cx="8300420" cy="5962650"/>
            <a:chOff x="0" y="0"/>
            <a:chExt cx="2186119" cy="157041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186119" cy="1570410"/>
            </a:xfrm>
            <a:custGeom>
              <a:avLst/>
              <a:gdLst/>
              <a:ahLst/>
              <a:cxnLst/>
              <a:rect l="l" t="t" r="r" b="b"/>
              <a:pathLst>
                <a:path w="2186119" h="1570410">
                  <a:moveTo>
                    <a:pt x="37309" y="0"/>
                  </a:moveTo>
                  <a:lnTo>
                    <a:pt x="2148810" y="0"/>
                  </a:lnTo>
                  <a:cubicBezTo>
                    <a:pt x="2158705" y="0"/>
                    <a:pt x="2168195" y="3931"/>
                    <a:pt x="2175191" y="10927"/>
                  </a:cubicBezTo>
                  <a:cubicBezTo>
                    <a:pt x="2182188" y="17924"/>
                    <a:pt x="2186119" y="27414"/>
                    <a:pt x="2186119" y="37309"/>
                  </a:cubicBezTo>
                  <a:lnTo>
                    <a:pt x="2186119" y="1533101"/>
                  </a:lnTo>
                  <a:cubicBezTo>
                    <a:pt x="2186119" y="1553706"/>
                    <a:pt x="2169415" y="1570410"/>
                    <a:pt x="2148810" y="1570410"/>
                  </a:cubicBezTo>
                  <a:lnTo>
                    <a:pt x="37309" y="1570410"/>
                  </a:lnTo>
                  <a:cubicBezTo>
                    <a:pt x="27414" y="1570410"/>
                    <a:pt x="17924" y="1566479"/>
                    <a:pt x="10927" y="1559482"/>
                  </a:cubicBezTo>
                  <a:cubicBezTo>
                    <a:pt x="3931" y="1552486"/>
                    <a:pt x="0" y="1542996"/>
                    <a:pt x="0" y="1533101"/>
                  </a:cubicBezTo>
                  <a:lnTo>
                    <a:pt x="0" y="37309"/>
                  </a:lnTo>
                  <a:cubicBezTo>
                    <a:pt x="0" y="16704"/>
                    <a:pt x="16704" y="0"/>
                    <a:pt x="37309" y="0"/>
                  </a:cubicBezTo>
                  <a:close/>
                </a:path>
              </a:pathLst>
            </a:custGeom>
            <a:solidFill>
              <a:srgbClr val="3D4726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0" y="-57150"/>
              <a:ext cx="2186119" cy="162756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sp>
        <p:nvSpPr>
          <p:cNvPr id="11" name="Freeform 11"/>
          <p:cNvSpPr/>
          <p:nvPr/>
        </p:nvSpPr>
        <p:spPr>
          <a:xfrm>
            <a:off x="9656798" y="4039501"/>
            <a:ext cx="460534" cy="460534"/>
          </a:xfrm>
          <a:custGeom>
            <a:avLst/>
            <a:gdLst/>
            <a:ahLst/>
            <a:cxnLst/>
            <a:rect l="l" t="t" r="r" b="b"/>
            <a:pathLst>
              <a:path w="460534" h="460534">
                <a:moveTo>
                  <a:pt x="0" y="0"/>
                </a:moveTo>
                <a:lnTo>
                  <a:pt x="460534" y="0"/>
                </a:lnTo>
                <a:lnTo>
                  <a:pt x="460534" y="460534"/>
                </a:lnTo>
                <a:lnTo>
                  <a:pt x="0" y="46053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7320206" y="3612936"/>
            <a:ext cx="1724399" cy="1724399"/>
          </a:xfrm>
          <a:custGeom>
            <a:avLst/>
            <a:gdLst/>
            <a:ahLst/>
            <a:cxnLst/>
            <a:rect l="l" t="t" r="r" b="b"/>
            <a:pathLst>
              <a:path w="1724399" h="1724399">
                <a:moveTo>
                  <a:pt x="0" y="0"/>
                </a:moveTo>
                <a:lnTo>
                  <a:pt x="1724399" y="0"/>
                </a:lnTo>
                <a:lnTo>
                  <a:pt x="1724399" y="1724398"/>
                </a:lnTo>
                <a:lnTo>
                  <a:pt x="0" y="172439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>
            <a:off x="15665716" y="3657600"/>
            <a:ext cx="1955534" cy="1820425"/>
          </a:xfrm>
          <a:custGeom>
            <a:avLst/>
            <a:gdLst/>
            <a:ahLst/>
            <a:cxnLst/>
            <a:rect l="l" t="t" r="r" b="b"/>
            <a:pathLst>
              <a:path w="1955534" h="1820425">
                <a:moveTo>
                  <a:pt x="0" y="0"/>
                </a:moveTo>
                <a:lnTo>
                  <a:pt x="1955534" y="0"/>
                </a:lnTo>
                <a:lnTo>
                  <a:pt x="1955534" y="1820425"/>
                </a:lnTo>
                <a:lnTo>
                  <a:pt x="0" y="182042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xmlns="" r:embed="rId6"/>
                </a:ext>
              </a:extLst>
            </a:blip>
            <a:stretch>
              <a:fillRect/>
            </a:stretch>
          </a:blipFill>
        </p:spPr>
      </p:sp>
      <p:grpSp>
        <p:nvGrpSpPr>
          <p:cNvPr id="14" name="Group 14"/>
          <p:cNvGrpSpPr/>
          <p:nvPr/>
        </p:nvGrpSpPr>
        <p:grpSpPr>
          <a:xfrm>
            <a:off x="1800225" y="4136456"/>
            <a:ext cx="7244380" cy="5819288"/>
            <a:chOff x="0" y="0"/>
            <a:chExt cx="9659174" cy="7759051"/>
          </a:xfrm>
        </p:grpSpPr>
        <p:sp>
          <p:nvSpPr>
            <p:cNvPr id="15" name="TextBox 15"/>
            <p:cNvSpPr txBox="1"/>
            <p:nvPr/>
          </p:nvSpPr>
          <p:spPr>
            <a:xfrm>
              <a:off x="0" y="-9525"/>
              <a:ext cx="9659174" cy="9874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5808"/>
                </a:lnSpc>
                <a:spcBef>
                  <a:spcPct val="0"/>
                </a:spcBef>
              </a:pPr>
              <a:r>
                <a:rPr lang="en-US" sz="4840" b="1" spc="-266">
                  <a:solidFill>
                    <a:srgbClr val="FFF7F7"/>
                  </a:solidFill>
                  <a:latin typeface="Work Sans Semi-Bold"/>
                  <a:ea typeface="Work Sans Semi-Bold"/>
                  <a:cs typeface="Work Sans Semi-Bold"/>
                  <a:sym typeface="Work Sans Semi-Bold"/>
                </a:rPr>
                <a:t>PROBELM 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1183626"/>
              <a:ext cx="9659174" cy="65754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4829"/>
                </a:lnSpc>
              </a:pPr>
              <a:r>
                <a:rPr lang="en-US" sz="4024" spc="-221">
                  <a:solidFill>
                    <a:srgbClr val="FFF7F7"/>
                  </a:solidFill>
                  <a:latin typeface="Work Sans"/>
                  <a:ea typeface="Work Sans"/>
                  <a:cs typeface="Work Sans"/>
                  <a:sym typeface="Work Sans"/>
                </a:rPr>
                <a:t>•</a:t>
              </a:r>
              <a:r>
                <a:rPr lang="en-US" sz="4024" b="1" spc="-221">
                  <a:solidFill>
                    <a:srgbClr val="FFF7F7"/>
                  </a:solidFill>
                  <a:latin typeface="Work Sans Bold"/>
                  <a:ea typeface="Work Sans Bold"/>
                  <a:cs typeface="Work Sans Bold"/>
                  <a:sym typeface="Work Sans Bold"/>
                </a:rPr>
                <a:t>Farmers</a:t>
              </a:r>
              <a:r>
                <a:rPr lang="en-US" sz="4024" spc="-221">
                  <a:solidFill>
                    <a:srgbClr val="FFF7F7"/>
                  </a:solidFill>
                  <a:latin typeface="Work Sans"/>
                  <a:ea typeface="Work Sans"/>
                  <a:cs typeface="Work Sans"/>
                  <a:sym typeface="Work Sans"/>
                </a:rPr>
                <a:t>: Low income, no direct premium buyers</a:t>
              </a:r>
            </a:p>
            <a:p>
              <a:pPr marL="0" lvl="0" indent="0" algn="l">
                <a:lnSpc>
                  <a:spcPts val="4829"/>
                </a:lnSpc>
              </a:pPr>
              <a:r>
                <a:rPr lang="en-US" sz="4024" b="1" spc="-221">
                  <a:solidFill>
                    <a:srgbClr val="FFF7F7"/>
                  </a:solidFill>
                  <a:latin typeface="Work Sans Bold"/>
                  <a:ea typeface="Work Sans Bold"/>
                  <a:cs typeface="Work Sans Bold"/>
                  <a:sym typeface="Work Sans Bold"/>
                </a:rPr>
                <a:t>•Export Buyers: </a:t>
              </a:r>
              <a:r>
                <a:rPr lang="en-US" sz="4024" spc="-221">
                  <a:solidFill>
                    <a:srgbClr val="FFF7F7"/>
                  </a:solidFill>
                  <a:latin typeface="Work Sans"/>
                  <a:ea typeface="Work Sans"/>
                  <a:cs typeface="Work Sans"/>
                  <a:sym typeface="Work Sans"/>
                </a:rPr>
                <a:t>Inconsistent quality, not export-ready</a:t>
              </a:r>
            </a:p>
            <a:p>
              <a:pPr marL="0" lvl="0" indent="0" algn="l">
                <a:lnSpc>
                  <a:spcPts val="4829"/>
                </a:lnSpc>
              </a:pPr>
              <a:r>
                <a:rPr lang="en-US" sz="4024" spc="-221">
                  <a:solidFill>
                    <a:srgbClr val="FFF7F7"/>
                  </a:solidFill>
                  <a:latin typeface="Work Sans"/>
                  <a:ea typeface="Work Sans"/>
                  <a:cs typeface="Work Sans"/>
                  <a:sym typeface="Work Sans"/>
                </a:rPr>
                <a:t>•</a:t>
              </a:r>
              <a:r>
                <a:rPr lang="en-US" sz="4024" b="1" spc="-221">
                  <a:solidFill>
                    <a:srgbClr val="FFF7F7"/>
                  </a:solidFill>
                  <a:latin typeface="Work Sans Bold"/>
                  <a:ea typeface="Work Sans Bold"/>
                  <a:cs typeface="Work Sans Bold"/>
                  <a:sym typeface="Work Sans Bold"/>
                </a:rPr>
                <a:t>Consumers: </a:t>
              </a:r>
              <a:r>
                <a:rPr lang="en-US" sz="4024" spc="-221">
                  <a:solidFill>
                    <a:srgbClr val="FFF7F7"/>
                  </a:solidFill>
                  <a:latin typeface="Work Sans"/>
                  <a:ea typeface="Work Sans"/>
                  <a:cs typeface="Work Sans"/>
                  <a:sym typeface="Work Sans"/>
                </a:rPr>
                <a:t>Lack of trustworthy brands, few flavours</a:t>
              </a:r>
            </a:p>
            <a:p>
              <a:pPr marL="0" lvl="0" indent="0" algn="l">
                <a:lnSpc>
                  <a:spcPts val="5208"/>
                </a:lnSpc>
              </a:pPr>
              <a:endParaRPr lang="en-US" sz="4024" spc="-221">
                <a:solidFill>
                  <a:srgbClr val="FFF7F7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</p:grpSp>
      <p:sp>
        <p:nvSpPr>
          <p:cNvPr id="17" name="TextBox 17"/>
          <p:cNvSpPr txBox="1"/>
          <p:nvPr/>
        </p:nvSpPr>
        <p:spPr>
          <a:xfrm>
            <a:off x="2105025" y="1641475"/>
            <a:ext cx="12639675" cy="898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6649"/>
              </a:lnSpc>
            </a:pPr>
            <a:r>
              <a:rPr lang="en-US" sz="6999" b="1" spc="-384">
                <a:solidFill>
                  <a:srgbClr val="FFF7F7"/>
                </a:solidFill>
                <a:latin typeface="Work Sans Semi-Bold"/>
                <a:ea typeface="Work Sans Semi-Bold"/>
                <a:cs typeface="Work Sans Semi-Bold"/>
                <a:sym typeface="Work Sans Semi-Bold"/>
              </a:rPr>
              <a:t>Invisioning The Idea </a:t>
            </a:r>
          </a:p>
        </p:txBody>
      </p:sp>
      <p:grpSp>
        <p:nvGrpSpPr>
          <p:cNvPr id="18" name="Group 18"/>
          <p:cNvGrpSpPr/>
          <p:nvPr/>
        </p:nvGrpSpPr>
        <p:grpSpPr>
          <a:xfrm>
            <a:off x="10393449" y="4039501"/>
            <a:ext cx="5574810" cy="2595668"/>
            <a:chOff x="0" y="0"/>
            <a:chExt cx="7433080" cy="3460890"/>
          </a:xfrm>
        </p:grpSpPr>
        <p:sp>
          <p:nvSpPr>
            <p:cNvPr id="19" name="TextBox 19"/>
            <p:cNvSpPr txBox="1"/>
            <p:nvPr/>
          </p:nvSpPr>
          <p:spPr>
            <a:xfrm>
              <a:off x="0" y="-9525"/>
              <a:ext cx="7433080" cy="9747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5759"/>
                </a:lnSpc>
                <a:spcBef>
                  <a:spcPct val="0"/>
                </a:spcBef>
              </a:pPr>
              <a:r>
                <a:rPr lang="en-US" sz="4799" b="1" spc="-263">
                  <a:solidFill>
                    <a:srgbClr val="FFF7F7"/>
                  </a:solidFill>
                  <a:latin typeface="Work Sans Semi-Bold"/>
                  <a:ea typeface="Work Sans Semi-Bold"/>
                  <a:cs typeface="Work Sans Semi-Bold"/>
                  <a:sym typeface="Work Sans Semi-Bold"/>
                </a:rPr>
                <a:t>PLAYER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0" y="1203465"/>
              <a:ext cx="7433080" cy="22574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798823" lvl="1" indent="-399411" algn="l">
                <a:lnSpc>
                  <a:spcPts val="4439"/>
                </a:lnSpc>
                <a:buFont typeface="Arial"/>
                <a:buChar char="•"/>
              </a:pPr>
              <a:r>
                <a:rPr lang="en-US" sz="3699" spc="-203">
                  <a:solidFill>
                    <a:srgbClr val="FFF7F7"/>
                  </a:solidFill>
                  <a:latin typeface="Work Sans"/>
                  <a:ea typeface="Work Sans"/>
                  <a:cs typeface="Work Sans"/>
                  <a:sym typeface="Work Sans"/>
                </a:rPr>
                <a:t>Farmers </a:t>
              </a:r>
            </a:p>
            <a:p>
              <a:pPr marL="798823" lvl="1" indent="-399411" algn="l">
                <a:lnSpc>
                  <a:spcPts val="4439"/>
                </a:lnSpc>
                <a:buFont typeface="Arial"/>
                <a:buChar char="•"/>
              </a:pPr>
              <a:r>
                <a:rPr lang="en-US" sz="3699" spc="-203">
                  <a:solidFill>
                    <a:srgbClr val="FFF7F7"/>
                  </a:solidFill>
                  <a:latin typeface="Work Sans"/>
                  <a:ea typeface="Work Sans"/>
                  <a:cs typeface="Work Sans"/>
                  <a:sym typeface="Work Sans"/>
                </a:rPr>
                <a:t>Export Buyers </a:t>
              </a:r>
            </a:p>
            <a:p>
              <a:pPr marL="798823" lvl="1" indent="-399411" algn="l">
                <a:lnSpc>
                  <a:spcPts val="4439"/>
                </a:lnSpc>
                <a:buFont typeface="Arial"/>
                <a:buChar char="•"/>
              </a:pPr>
              <a:r>
                <a:rPr lang="en-US" sz="3699" spc="-203">
                  <a:solidFill>
                    <a:srgbClr val="FFF7F7"/>
                  </a:solidFill>
                  <a:latin typeface="Work Sans"/>
                  <a:ea typeface="Work Sans"/>
                  <a:cs typeface="Work Sans"/>
                  <a:sym typeface="Work Sans"/>
                </a:rPr>
                <a:t>B2B Platform 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1F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28700" y="821435"/>
            <a:ext cx="7560738" cy="8644130"/>
            <a:chOff x="0" y="0"/>
            <a:chExt cx="1991305" cy="227664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991305" cy="2276643"/>
            </a:xfrm>
            <a:custGeom>
              <a:avLst/>
              <a:gdLst/>
              <a:ahLst/>
              <a:cxnLst/>
              <a:rect l="l" t="t" r="r" b="b"/>
              <a:pathLst>
                <a:path w="1991305" h="2276643">
                  <a:moveTo>
                    <a:pt x="40959" y="0"/>
                  </a:moveTo>
                  <a:lnTo>
                    <a:pt x="1950347" y="0"/>
                  </a:lnTo>
                  <a:cubicBezTo>
                    <a:pt x="1961210" y="0"/>
                    <a:pt x="1971628" y="4315"/>
                    <a:pt x="1979309" y="11996"/>
                  </a:cubicBezTo>
                  <a:cubicBezTo>
                    <a:pt x="1986990" y="19678"/>
                    <a:pt x="1991305" y="30096"/>
                    <a:pt x="1991305" y="40959"/>
                  </a:cubicBezTo>
                  <a:lnTo>
                    <a:pt x="1991305" y="2235685"/>
                  </a:lnTo>
                  <a:cubicBezTo>
                    <a:pt x="1991305" y="2246548"/>
                    <a:pt x="1986990" y="2256966"/>
                    <a:pt x="1979309" y="2264647"/>
                  </a:cubicBezTo>
                  <a:cubicBezTo>
                    <a:pt x="1971628" y="2272328"/>
                    <a:pt x="1961210" y="2276643"/>
                    <a:pt x="1950347" y="2276643"/>
                  </a:cubicBezTo>
                  <a:lnTo>
                    <a:pt x="40959" y="2276643"/>
                  </a:lnTo>
                  <a:cubicBezTo>
                    <a:pt x="30096" y="2276643"/>
                    <a:pt x="19678" y="2272328"/>
                    <a:pt x="11996" y="2264647"/>
                  </a:cubicBezTo>
                  <a:cubicBezTo>
                    <a:pt x="4315" y="2256966"/>
                    <a:pt x="0" y="2246548"/>
                    <a:pt x="0" y="2235685"/>
                  </a:cubicBezTo>
                  <a:lnTo>
                    <a:pt x="0" y="40959"/>
                  </a:lnTo>
                  <a:cubicBezTo>
                    <a:pt x="0" y="30096"/>
                    <a:pt x="4315" y="19678"/>
                    <a:pt x="11996" y="11996"/>
                  </a:cubicBezTo>
                  <a:cubicBezTo>
                    <a:pt x="19678" y="4315"/>
                    <a:pt x="30096" y="0"/>
                    <a:pt x="40959" y="0"/>
                  </a:cubicBezTo>
                  <a:close/>
                </a:path>
              </a:pathLst>
            </a:custGeom>
            <a:solidFill>
              <a:srgbClr val="3D4726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57150"/>
              <a:ext cx="1991305" cy="233379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9463971" y="711391"/>
            <a:ext cx="8157279" cy="8908859"/>
            <a:chOff x="0" y="0"/>
            <a:chExt cx="2148419" cy="2346366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148419" cy="2346366"/>
            </a:xfrm>
            <a:custGeom>
              <a:avLst/>
              <a:gdLst/>
              <a:ahLst/>
              <a:cxnLst/>
              <a:rect l="l" t="t" r="r" b="b"/>
              <a:pathLst>
                <a:path w="2148419" h="2346366">
                  <a:moveTo>
                    <a:pt x="37963" y="0"/>
                  </a:moveTo>
                  <a:lnTo>
                    <a:pt x="2110456" y="0"/>
                  </a:lnTo>
                  <a:cubicBezTo>
                    <a:pt x="2120524" y="0"/>
                    <a:pt x="2130181" y="4000"/>
                    <a:pt x="2137300" y="11119"/>
                  </a:cubicBezTo>
                  <a:cubicBezTo>
                    <a:pt x="2144419" y="18239"/>
                    <a:pt x="2148419" y="27895"/>
                    <a:pt x="2148419" y="37963"/>
                  </a:cubicBezTo>
                  <a:lnTo>
                    <a:pt x="2148419" y="2308403"/>
                  </a:lnTo>
                  <a:cubicBezTo>
                    <a:pt x="2148419" y="2318471"/>
                    <a:pt x="2144419" y="2328127"/>
                    <a:pt x="2137300" y="2335247"/>
                  </a:cubicBezTo>
                  <a:cubicBezTo>
                    <a:pt x="2130181" y="2342366"/>
                    <a:pt x="2120524" y="2346366"/>
                    <a:pt x="2110456" y="2346366"/>
                  </a:cubicBezTo>
                  <a:lnTo>
                    <a:pt x="37963" y="2346366"/>
                  </a:lnTo>
                  <a:cubicBezTo>
                    <a:pt x="27895" y="2346366"/>
                    <a:pt x="18239" y="2342366"/>
                    <a:pt x="11119" y="2335247"/>
                  </a:cubicBezTo>
                  <a:cubicBezTo>
                    <a:pt x="4000" y="2328127"/>
                    <a:pt x="0" y="2318471"/>
                    <a:pt x="0" y="2308403"/>
                  </a:cubicBezTo>
                  <a:lnTo>
                    <a:pt x="0" y="37963"/>
                  </a:lnTo>
                  <a:cubicBezTo>
                    <a:pt x="0" y="27895"/>
                    <a:pt x="4000" y="18239"/>
                    <a:pt x="11119" y="11119"/>
                  </a:cubicBezTo>
                  <a:cubicBezTo>
                    <a:pt x="18239" y="4000"/>
                    <a:pt x="27895" y="0"/>
                    <a:pt x="37963" y="0"/>
                  </a:cubicBezTo>
                  <a:close/>
                </a:path>
              </a:pathLst>
            </a:custGeom>
            <a:solidFill>
              <a:srgbClr val="3D4726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57150"/>
              <a:ext cx="2148419" cy="240351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>
            <a:off x="9844118" y="3091207"/>
            <a:ext cx="841522" cy="841522"/>
          </a:xfrm>
          <a:custGeom>
            <a:avLst/>
            <a:gdLst/>
            <a:ahLst/>
            <a:cxnLst/>
            <a:rect l="l" t="t" r="r" b="b"/>
            <a:pathLst>
              <a:path w="841522" h="841522">
                <a:moveTo>
                  <a:pt x="0" y="0"/>
                </a:moveTo>
                <a:lnTo>
                  <a:pt x="841522" y="0"/>
                </a:lnTo>
                <a:lnTo>
                  <a:pt x="841522" y="841522"/>
                </a:lnTo>
                <a:lnTo>
                  <a:pt x="0" y="84152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1284015" y="2630673"/>
            <a:ext cx="460534" cy="460534"/>
          </a:xfrm>
          <a:custGeom>
            <a:avLst/>
            <a:gdLst/>
            <a:ahLst/>
            <a:cxnLst/>
            <a:rect l="l" t="t" r="r" b="b"/>
            <a:pathLst>
              <a:path w="460534" h="460534">
                <a:moveTo>
                  <a:pt x="0" y="0"/>
                </a:moveTo>
                <a:lnTo>
                  <a:pt x="460534" y="0"/>
                </a:lnTo>
                <a:lnTo>
                  <a:pt x="460534" y="460534"/>
                </a:lnTo>
                <a:lnTo>
                  <a:pt x="0" y="46053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5201005" y="821435"/>
            <a:ext cx="3277002" cy="1546229"/>
          </a:xfrm>
          <a:custGeom>
            <a:avLst/>
            <a:gdLst/>
            <a:ahLst/>
            <a:cxnLst/>
            <a:rect l="l" t="t" r="r" b="b"/>
            <a:pathLst>
              <a:path w="3277002" h="1546229">
                <a:moveTo>
                  <a:pt x="0" y="0"/>
                </a:moveTo>
                <a:lnTo>
                  <a:pt x="3277002" y="0"/>
                </a:lnTo>
                <a:lnTo>
                  <a:pt x="3277002" y="1546229"/>
                </a:lnTo>
                <a:lnTo>
                  <a:pt x="0" y="154622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t="-55967" b="-55967"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16325518" y="640213"/>
            <a:ext cx="1294891" cy="1294891"/>
          </a:xfrm>
          <a:custGeom>
            <a:avLst/>
            <a:gdLst/>
            <a:ahLst/>
            <a:cxnLst/>
            <a:rect l="l" t="t" r="r" b="b"/>
            <a:pathLst>
              <a:path w="1294891" h="1294891">
                <a:moveTo>
                  <a:pt x="0" y="0"/>
                </a:moveTo>
                <a:lnTo>
                  <a:pt x="1294891" y="0"/>
                </a:lnTo>
                <a:lnTo>
                  <a:pt x="1294891" y="1294891"/>
                </a:lnTo>
                <a:lnTo>
                  <a:pt x="0" y="129489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xmlns="" r:embed="rId6"/>
                </a:ext>
              </a:extLst>
            </a:blip>
            <a:stretch>
              <a:fillRect/>
            </a:stretch>
          </a:blipFill>
        </p:spPr>
      </p:sp>
      <p:grpSp>
        <p:nvGrpSpPr>
          <p:cNvPr id="12" name="Group 12"/>
          <p:cNvGrpSpPr/>
          <p:nvPr/>
        </p:nvGrpSpPr>
        <p:grpSpPr>
          <a:xfrm>
            <a:off x="1284015" y="2860940"/>
            <a:ext cx="6635339" cy="7021527"/>
            <a:chOff x="0" y="0"/>
            <a:chExt cx="8847118" cy="9362037"/>
          </a:xfrm>
        </p:grpSpPr>
        <p:sp>
          <p:nvSpPr>
            <p:cNvPr id="13" name="TextBox 13"/>
            <p:cNvSpPr txBox="1"/>
            <p:nvPr/>
          </p:nvSpPr>
          <p:spPr>
            <a:xfrm>
              <a:off x="0" y="-9525"/>
              <a:ext cx="8847118" cy="14700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8675"/>
                </a:lnSpc>
                <a:spcBef>
                  <a:spcPct val="0"/>
                </a:spcBef>
              </a:pPr>
              <a:r>
                <a:rPr lang="en-US" sz="7229" b="1" spc="-397">
                  <a:solidFill>
                    <a:srgbClr val="FFF7F7"/>
                  </a:solidFill>
                  <a:latin typeface="Work Sans Semi-Bold"/>
                  <a:ea typeface="Work Sans Semi-Bold"/>
                  <a:cs typeface="Work Sans Semi-Bold"/>
                  <a:sym typeface="Work Sans Semi-Bold"/>
                </a:rPr>
                <a:t>Context  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1703937"/>
              <a:ext cx="8847118" cy="76581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5092"/>
                </a:lnSpc>
              </a:pPr>
              <a:r>
                <a:rPr lang="en-US" sz="4243" spc="-233">
                  <a:solidFill>
                    <a:srgbClr val="FFF7F7"/>
                  </a:solidFill>
                  <a:latin typeface="Work Sans"/>
                  <a:ea typeface="Work Sans"/>
                  <a:cs typeface="Work Sans"/>
                  <a:sym typeface="Work Sans"/>
                </a:rPr>
                <a:t>• Bihar is the world’s largest makhana producer</a:t>
              </a:r>
            </a:p>
            <a:p>
              <a:pPr algn="l">
                <a:lnSpc>
                  <a:spcPts val="5092"/>
                </a:lnSpc>
              </a:pPr>
              <a:r>
                <a:rPr lang="en-US" sz="4243" spc="-233">
                  <a:solidFill>
                    <a:srgbClr val="FFF7F7"/>
                  </a:solidFill>
                  <a:latin typeface="Work Sans"/>
                  <a:ea typeface="Work Sans"/>
                  <a:cs typeface="Work Sans"/>
                  <a:sym typeface="Work Sans"/>
                </a:rPr>
                <a:t>• Farmers sell raw at low margin</a:t>
              </a:r>
            </a:p>
            <a:p>
              <a:pPr algn="l">
                <a:lnSpc>
                  <a:spcPts val="5092"/>
                </a:lnSpc>
              </a:pPr>
              <a:r>
                <a:rPr lang="en-US" sz="4243" spc="-233">
                  <a:solidFill>
                    <a:srgbClr val="FFF7F7"/>
                  </a:solidFill>
                  <a:latin typeface="Work Sans"/>
                  <a:ea typeface="Work Sans"/>
                  <a:cs typeface="Work Sans"/>
                  <a:sym typeface="Work Sans"/>
                </a:rPr>
                <a:t>• Global demand rising, premium supply limited</a:t>
              </a:r>
            </a:p>
            <a:p>
              <a:pPr algn="l">
                <a:lnSpc>
                  <a:spcPts val="5092"/>
                </a:lnSpc>
              </a:pPr>
              <a:r>
                <a:rPr lang="en-US" sz="4243" spc="-233">
                  <a:solidFill>
                    <a:srgbClr val="FFF7F7"/>
                  </a:solidFill>
                  <a:latin typeface="Work Sans"/>
                  <a:ea typeface="Work Sans"/>
                  <a:cs typeface="Work Sans"/>
                  <a:sym typeface="Work Sans"/>
                </a:rPr>
                <a:t>• Export buyers face inconsistency</a:t>
              </a:r>
            </a:p>
            <a:p>
              <a:pPr marL="0" lvl="0" indent="0" algn="l">
                <a:lnSpc>
                  <a:spcPts val="5092"/>
                </a:lnSpc>
              </a:pPr>
              <a:endParaRPr lang="en-US" sz="4243" spc="-233">
                <a:solidFill>
                  <a:srgbClr val="FFF7F7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10685640" y="2820530"/>
            <a:ext cx="6934769" cy="4645941"/>
            <a:chOff x="0" y="0"/>
            <a:chExt cx="9246359" cy="6194588"/>
          </a:xfrm>
        </p:grpSpPr>
        <p:sp>
          <p:nvSpPr>
            <p:cNvPr id="16" name="TextBox 16"/>
            <p:cNvSpPr txBox="1"/>
            <p:nvPr/>
          </p:nvSpPr>
          <p:spPr>
            <a:xfrm>
              <a:off x="0" y="-9525"/>
              <a:ext cx="9246359" cy="143201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8553"/>
                </a:lnSpc>
                <a:spcBef>
                  <a:spcPct val="0"/>
                </a:spcBef>
              </a:pPr>
              <a:r>
                <a:rPr lang="en-US" sz="7127" b="1" spc="-392">
                  <a:solidFill>
                    <a:srgbClr val="FFF7F7"/>
                  </a:solidFill>
                  <a:latin typeface="Work Sans Semi-Bold"/>
                  <a:ea typeface="Work Sans Semi-Bold"/>
                  <a:cs typeface="Work Sans Semi-Bold"/>
                  <a:sym typeface="Work Sans Semi-Bold"/>
                </a:rPr>
                <a:t>Consequences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1917589"/>
              <a:ext cx="9246359" cy="427699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5131"/>
                </a:lnSpc>
              </a:pPr>
              <a:r>
                <a:rPr lang="en-US" sz="4276" spc="-235">
                  <a:solidFill>
                    <a:srgbClr val="FFF7F7"/>
                  </a:solidFill>
                  <a:latin typeface="Work Sans"/>
                  <a:ea typeface="Work Sans"/>
                  <a:cs typeface="Work Sans"/>
                  <a:sym typeface="Work Sans"/>
                </a:rPr>
                <a:t>• Bihar loses value-add income</a:t>
              </a:r>
            </a:p>
            <a:p>
              <a:pPr marL="0" lvl="0" indent="0" algn="l">
                <a:lnSpc>
                  <a:spcPts val="5131"/>
                </a:lnSpc>
              </a:pPr>
              <a:r>
                <a:rPr lang="en-US" sz="4276" spc="-235">
                  <a:solidFill>
                    <a:srgbClr val="FFF7F7"/>
                  </a:solidFill>
                  <a:latin typeface="Work Sans"/>
                  <a:ea typeface="Work Sans"/>
                  <a:cs typeface="Work Sans"/>
                  <a:sym typeface="Work Sans"/>
                </a:rPr>
                <a:t>• Farmers underpaid</a:t>
              </a:r>
            </a:p>
            <a:p>
              <a:pPr marL="0" lvl="0" indent="0" algn="l">
                <a:lnSpc>
                  <a:spcPts val="5131"/>
                </a:lnSpc>
              </a:pPr>
              <a:r>
                <a:rPr lang="en-US" sz="4276" spc="-235">
                  <a:solidFill>
                    <a:srgbClr val="FFF7F7"/>
                  </a:solidFill>
                  <a:latin typeface="Work Sans"/>
                  <a:ea typeface="Work Sans"/>
                  <a:cs typeface="Work Sans"/>
                  <a:sym typeface="Work Sans"/>
                </a:rPr>
                <a:t>• Export potential untapped</a:t>
              </a:r>
            </a:p>
            <a:p>
              <a:pPr marL="0" lvl="0" indent="0" algn="l">
                <a:lnSpc>
                  <a:spcPts val="5131"/>
                </a:lnSpc>
              </a:pPr>
              <a:endParaRPr lang="en-US" sz="4276" spc="-235">
                <a:solidFill>
                  <a:srgbClr val="FFF7F7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1F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28700" y="821435"/>
            <a:ext cx="16230600" cy="8644130"/>
            <a:chOff x="0" y="0"/>
            <a:chExt cx="4274726" cy="227664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274726" cy="2276643"/>
            </a:xfrm>
            <a:custGeom>
              <a:avLst/>
              <a:gdLst/>
              <a:ahLst/>
              <a:cxnLst/>
              <a:rect l="l" t="t" r="r" b="b"/>
              <a:pathLst>
                <a:path w="4274726" h="2276643">
                  <a:moveTo>
                    <a:pt x="19080" y="0"/>
                  </a:moveTo>
                  <a:lnTo>
                    <a:pt x="4255646" y="0"/>
                  </a:lnTo>
                  <a:cubicBezTo>
                    <a:pt x="4266183" y="0"/>
                    <a:pt x="4274726" y="8542"/>
                    <a:pt x="4274726" y="19080"/>
                  </a:cubicBezTo>
                  <a:lnTo>
                    <a:pt x="4274726" y="2257564"/>
                  </a:lnTo>
                  <a:cubicBezTo>
                    <a:pt x="4274726" y="2262624"/>
                    <a:pt x="4272716" y="2267477"/>
                    <a:pt x="4269137" y="2271055"/>
                  </a:cubicBezTo>
                  <a:cubicBezTo>
                    <a:pt x="4265559" y="2274633"/>
                    <a:pt x="4260706" y="2276643"/>
                    <a:pt x="4255646" y="2276643"/>
                  </a:cubicBezTo>
                  <a:lnTo>
                    <a:pt x="19080" y="2276643"/>
                  </a:lnTo>
                  <a:cubicBezTo>
                    <a:pt x="8542" y="2276643"/>
                    <a:pt x="0" y="2268101"/>
                    <a:pt x="0" y="2257564"/>
                  </a:cubicBezTo>
                  <a:lnTo>
                    <a:pt x="0" y="19080"/>
                  </a:lnTo>
                  <a:cubicBezTo>
                    <a:pt x="0" y="8542"/>
                    <a:pt x="8542" y="0"/>
                    <a:pt x="19080" y="0"/>
                  </a:cubicBezTo>
                  <a:close/>
                </a:path>
              </a:pathLst>
            </a:custGeom>
            <a:solidFill>
              <a:srgbClr val="3D4726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57150"/>
              <a:ext cx="4274726" cy="233379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5055078" y="1266788"/>
            <a:ext cx="6635339" cy="1916127"/>
            <a:chOff x="0" y="0"/>
            <a:chExt cx="8847118" cy="2554837"/>
          </a:xfrm>
        </p:grpSpPr>
        <p:sp>
          <p:nvSpPr>
            <p:cNvPr id="6" name="TextBox 6"/>
            <p:cNvSpPr txBox="1"/>
            <p:nvPr/>
          </p:nvSpPr>
          <p:spPr>
            <a:xfrm>
              <a:off x="0" y="-9525"/>
              <a:ext cx="8847118" cy="14700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8675"/>
                </a:lnSpc>
                <a:spcBef>
                  <a:spcPct val="0"/>
                </a:spcBef>
              </a:pPr>
              <a:r>
                <a:rPr lang="en-US" sz="7229" b="1" spc="-397">
                  <a:solidFill>
                    <a:srgbClr val="FFF7F7"/>
                  </a:solidFill>
                  <a:latin typeface="Work Sans Bold"/>
                  <a:ea typeface="Work Sans Bold"/>
                  <a:cs typeface="Work Sans Bold"/>
                  <a:sym typeface="Work Sans Bold"/>
                </a:rPr>
                <a:t>Alternatives 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1703937"/>
              <a:ext cx="8847118" cy="8509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5092"/>
                </a:lnSpc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>
            <a:off x="4766768" y="1648232"/>
            <a:ext cx="576620" cy="576620"/>
          </a:xfrm>
          <a:custGeom>
            <a:avLst/>
            <a:gdLst/>
            <a:ahLst/>
            <a:cxnLst/>
            <a:rect l="l" t="t" r="r" b="b"/>
            <a:pathLst>
              <a:path w="576620" h="576620">
                <a:moveTo>
                  <a:pt x="0" y="0"/>
                </a:moveTo>
                <a:lnTo>
                  <a:pt x="576620" y="0"/>
                </a:lnTo>
                <a:lnTo>
                  <a:pt x="576620" y="576619"/>
                </a:lnTo>
                <a:lnTo>
                  <a:pt x="0" y="57661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2157536" y="4459328"/>
            <a:ext cx="4702718" cy="4702718"/>
          </a:xfrm>
          <a:custGeom>
            <a:avLst/>
            <a:gdLst/>
            <a:ahLst/>
            <a:cxnLst/>
            <a:rect l="l" t="t" r="r" b="b"/>
            <a:pathLst>
              <a:path w="4702718" h="4702718">
                <a:moveTo>
                  <a:pt x="0" y="0"/>
                </a:moveTo>
                <a:lnTo>
                  <a:pt x="4702718" y="0"/>
                </a:lnTo>
                <a:lnTo>
                  <a:pt x="4702718" y="4702718"/>
                </a:lnTo>
                <a:lnTo>
                  <a:pt x="0" y="470271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11680642" y="5297528"/>
            <a:ext cx="3929398" cy="3234830"/>
          </a:xfrm>
          <a:custGeom>
            <a:avLst/>
            <a:gdLst/>
            <a:ahLst/>
            <a:cxnLst/>
            <a:rect l="l" t="t" r="r" b="b"/>
            <a:pathLst>
              <a:path w="3929398" h="3234830">
                <a:moveTo>
                  <a:pt x="0" y="0"/>
                </a:moveTo>
                <a:lnTo>
                  <a:pt x="3929398" y="0"/>
                </a:lnTo>
                <a:lnTo>
                  <a:pt x="3929398" y="3234831"/>
                </a:lnTo>
                <a:lnTo>
                  <a:pt x="0" y="323483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t="-10735" b="-10735"/>
            </a:stretch>
          </a:blipFill>
        </p:spPr>
      </p:sp>
      <p:sp>
        <p:nvSpPr>
          <p:cNvPr id="11" name="TextBox 11"/>
          <p:cNvSpPr txBox="1"/>
          <p:nvPr/>
        </p:nvSpPr>
        <p:spPr>
          <a:xfrm>
            <a:off x="445239" y="3572233"/>
            <a:ext cx="7560738" cy="8870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1">
                <a:solidFill>
                  <a:srgbClr val="FFF7F7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Almonds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1389989" y="3572233"/>
            <a:ext cx="4220051" cy="8870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7279"/>
              </a:lnSpc>
            </a:pPr>
            <a:r>
              <a:rPr lang="en-US" sz="5199" b="1">
                <a:solidFill>
                  <a:srgbClr val="FFF7F7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Healty Snack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1F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813172" y="666750"/>
            <a:ext cx="16808078" cy="8953500"/>
            <a:chOff x="0" y="0"/>
            <a:chExt cx="4426819" cy="235812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426819" cy="2358124"/>
            </a:xfrm>
            <a:custGeom>
              <a:avLst/>
              <a:gdLst/>
              <a:ahLst/>
              <a:cxnLst/>
              <a:rect l="l" t="t" r="r" b="b"/>
              <a:pathLst>
                <a:path w="4426819" h="2358124">
                  <a:moveTo>
                    <a:pt x="25333" y="0"/>
                  </a:moveTo>
                  <a:lnTo>
                    <a:pt x="4401486" y="0"/>
                  </a:lnTo>
                  <a:cubicBezTo>
                    <a:pt x="4408205" y="0"/>
                    <a:pt x="4414648" y="2669"/>
                    <a:pt x="4419399" y="7420"/>
                  </a:cubicBezTo>
                  <a:cubicBezTo>
                    <a:pt x="4424150" y="12171"/>
                    <a:pt x="4426819" y="18615"/>
                    <a:pt x="4426819" y="25333"/>
                  </a:cubicBezTo>
                  <a:lnTo>
                    <a:pt x="4426819" y="2332790"/>
                  </a:lnTo>
                  <a:cubicBezTo>
                    <a:pt x="4426819" y="2339509"/>
                    <a:pt x="4424150" y="2345953"/>
                    <a:pt x="4419399" y="2350704"/>
                  </a:cubicBezTo>
                  <a:cubicBezTo>
                    <a:pt x="4414648" y="2355454"/>
                    <a:pt x="4408205" y="2358124"/>
                    <a:pt x="4401486" y="2358124"/>
                  </a:cubicBezTo>
                  <a:lnTo>
                    <a:pt x="25333" y="2358124"/>
                  </a:lnTo>
                  <a:cubicBezTo>
                    <a:pt x="18615" y="2358124"/>
                    <a:pt x="12171" y="2355454"/>
                    <a:pt x="7420" y="2350704"/>
                  </a:cubicBezTo>
                  <a:cubicBezTo>
                    <a:pt x="2669" y="2345953"/>
                    <a:pt x="0" y="2339509"/>
                    <a:pt x="0" y="2332790"/>
                  </a:cubicBezTo>
                  <a:lnTo>
                    <a:pt x="0" y="25333"/>
                  </a:lnTo>
                  <a:cubicBezTo>
                    <a:pt x="0" y="18615"/>
                    <a:pt x="2669" y="12171"/>
                    <a:pt x="7420" y="7420"/>
                  </a:cubicBezTo>
                  <a:cubicBezTo>
                    <a:pt x="12171" y="2669"/>
                    <a:pt x="18615" y="0"/>
                    <a:pt x="25333" y="0"/>
                  </a:cubicBezTo>
                  <a:close/>
                </a:path>
              </a:pathLst>
            </a:custGeom>
            <a:solidFill>
              <a:srgbClr val="545F3C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57150"/>
              <a:ext cx="4426819" cy="241527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979574" y="1471194"/>
            <a:ext cx="12541005" cy="6263930"/>
            <a:chOff x="0" y="0"/>
            <a:chExt cx="16721340" cy="8351907"/>
          </a:xfrm>
        </p:grpSpPr>
        <p:sp>
          <p:nvSpPr>
            <p:cNvPr id="6" name="TextBox 6"/>
            <p:cNvSpPr txBox="1"/>
            <p:nvPr/>
          </p:nvSpPr>
          <p:spPr>
            <a:xfrm>
              <a:off x="0" y="-19050"/>
              <a:ext cx="16721340" cy="139065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8100"/>
                </a:lnSpc>
                <a:spcBef>
                  <a:spcPct val="0"/>
                </a:spcBef>
              </a:pPr>
              <a:r>
                <a:rPr lang="en-US" sz="6750" b="1" spc="-371">
                  <a:solidFill>
                    <a:srgbClr val="FFF7F7"/>
                  </a:solidFill>
                  <a:latin typeface="Work Sans Bold"/>
                  <a:ea typeface="Work Sans Bold"/>
                  <a:cs typeface="Work Sans Bold"/>
                  <a:sym typeface="Work Sans Bold"/>
                </a:rPr>
                <a:t>Solutions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1839982"/>
              <a:ext cx="16721340" cy="65119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4860"/>
                </a:lnSpc>
              </a:pPr>
              <a:r>
                <a:rPr lang="en-US" sz="4050" spc="-222">
                  <a:solidFill>
                    <a:srgbClr val="FFF7F7"/>
                  </a:solidFill>
                  <a:latin typeface="Work Sans"/>
                  <a:ea typeface="Work Sans"/>
                  <a:cs typeface="Work Sans"/>
                  <a:sym typeface="Work Sans"/>
                </a:rPr>
                <a:t>•</a:t>
              </a:r>
              <a:r>
                <a:rPr lang="en-US" sz="4050" b="1" spc="-222">
                  <a:solidFill>
                    <a:srgbClr val="FFF7F7"/>
                  </a:solidFill>
                  <a:latin typeface="Work Sans Bold"/>
                  <a:ea typeface="Work Sans Bold"/>
                  <a:cs typeface="Work Sans Bold"/>
                  <a:sym typeface="Work Sans Bold"/>
                </a:rPr>
                <a:t>Premium farm-to-pack makhana brand</a:t>
              </a:r>
            </a:p>
            <a:p>
              <a:pPr marL="0" lvl="0" indent="0" algn="l">
                <a:lnSpc>
                  <a:spcPts val="4860"/>
                </a:lnSpc>
              </a:pPr>
              <a:endParaRPr lang="en-US" sz="4050" b="1" spc="-222">
                <a:solidFill>
                  <a:srgbClr val="FFF7F7"/>
                </a:solidFill>
                <a:latin typeface="Work Sans Bold"/>
                <a:ea typeface="Work Sans Bold"/>
                <a:cs typeface="Work Sans Bold"/>
                <a:sym typeface="Work Sans Bold"/>
              </a:endParaRPr>
            </a:p>
            <a:p>
              <a:pPr marL="0" lvl="0" indent="0" algn="l">
                <a:lnSpc>
                  <a:spcPts val="4860"/>
                </a:lnSpc>
              </a:pPr>
              <a:r>
                <a:rPr lang="en-US" sz="4050" b="1" spc="-222">
                  <a:solidFill>
                    <a:srgbClr val="FFF7F7"/>
                  </a:solidFill>
                  <a:latin typeface="Work Sans Bold"/>
                  <a:ea typeface="Work Sans Bold"/>
                  <a:cs typeface="Work Sans Bold"/>
                  <a:sym typeface="Work Sans Bold"/>
                </a:rPr>
                <a:t>Key Pillars:</a:t>
              </a:r>
            </a:p>
            <a:p>
              <a:pPr marL="0" lvl="0" indent="0" algn="l">
                <a:lnSpc>
                  <a:spcPts val="4860"/>
                </a:lnSpc>
              </a:pPr>
              <a:r>
                <a:rPr lang="en-US" sz="4050" spc="-222">
                  <a:solidFill>
                    <a:srgbClr val="FFF7F7"/>
                  </a:solidFill>
                  <a:latin typeface="Work Sans"/>
                  <a:ea typeface="Work Sans"/>
                  <a:cs typeface="Work Sans"/>
                  <a:sym typeface="Work Sans"/>
                </a:rPr>
                <a:t>1. Direct partnership with farmers </a:t>
              </a:r>
            </a:p>
            <a:p>
              <a:pPr marL="0" lvl="0" indent="0" algn="l">
                <a:lnSpc>
                  <a:spcPts val="4860"/>
                </a:lnSpc>
              </a:pPr>
              <a:r>
                <a:rPr lang="en-US" sz="4050" spc="-222">
                  <a:solidFill>
                    <a:srgbClr val="FFF7F7"/>
                  </a:solidFill>
                  <a:latin typeface="Work Sans"/>
                  <a:ea typeface="Work Sans"/>
                  <a:cs typeface="Work Sans"/>
                  <a:sym typeface="Work Sans"/>
                </a:rPr>
                <a:t>2. In-house roasting &amp; grading</a:t>
              </a:r>
            </a:p>
            <a:p>
              <a:pPr marL="0" lvl="0" indent="0" algn="l">
                <a:lnSpc>
                  <a:spcPts val="4860"/>
                </a:lnSpc>
              </a:pPr>
              <a:r>
                <a:rPr lang="en-US" sz="4050" spc="-222">
                  <a:solidFill>
                    <a:srgbClr val="FFF7F7"/>
                  </a:solidFill>
                  <a:latin typeface="Work Sans"/>
                  <a:ea typeface="Work Sans"/>
                  <a:cs typeface="Work Sans"/>
                  <a:sym typeface="Work Sans"/>
                </a:rPr>
                <a:t>3. Global reach via TradeIndia &amp; IndiaMART</a:t>
              </a:r>
            </a:p>
            <a:p>
              <a:pPr marL="0" lvl="0" indent="0" algn="l">
                <a:lnSpc>
                  <a:spcPts val="4860"/>
                </a:lnSpc>
              </a:pPr>
              <a:r>
                <a:rPr lang="en-US" sz="4050" spc="-222">
                  <a:solidFill>
                    <a:srgbClr val="FFF7F7"/>
                  </a:solidFill>
                  <a:latin typeface="Work Sans"/>
                  <a:ea typeface="Work Sans"/>
                  <a:cs typeface="Work Sans"/>
                  <a:sym typeface="Work Sans"/>
                </a:rPr>
                <a:t>4. Premium product line (plain, roasted, flavoured)</a:t>
              </a:r>
            </a:p>
            <a:p>
              <a:pPr marL="0" lvl="0" indent="0" algn="l">
                <a:lnSpc>
                  <a:spcPts val="4860"/>
                </a:lnSpc>
              </a:pPr>
              <a:endParaRPr lang="en-US" sz="4050" spc="-222">
                <a:solidFill>
                  <a:srgbClr val="FFF7F7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</p:grpSp>
      <p:sp>
        <p:nvSpPr>
          <p:cNvPr id="8" name="Freeform 8"/>
          <p:cNvSpPr/>
          <p:nvPr/>
        </p:nvSpPr>
        <p:spPr>
          <a:xfrm>
            <a:off x="15601290" y="18720"/>
            <a:ext cx="2019960" cy="2019960"/>
          </a:xfrm>
          <a:custGeom>
            <a:avLst/>
            <a:gdLst/>
            <a:ahLst/>
            <a:cxnLst/>
            <a:rect l="l" t="t" r="r" b="b"/>
            <a:pathLst>
              <a:path w="2019960" h="2019960">
                <a:moveTo>
                  <a:pt x="0" y="0"/>
                </a:moveTo>
                <a:lnTo>
                  <a:pt x="2019960" y="0"/>
                </a:lnTo>
                <a:lnTo>
                  <a:pt x="2019960" y="2019960"/>
                </a:lnTo>
                <a:lnTo>
                  <a:pt x="0" y="201996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1F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66750" y="666750"/>
            <a:ext cx="16954500" cy="8953500"/>
            <a:chOff x="0" y="0"/>
            <a:chExt cx="3299803" cy="174259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299803" cy="1742587"/>
            </a:xfrm>
            <a:custGeom>
              <a:avLst/>
              <a:gdLst/>
              <a:ahLst/>
              <a:cxnLst/>
              <a:rect l="l" t="t" r="r" b="b"/>
              <a:pathLst>
                <a:path w="3299803" h="1742587">
                  <a:moveTo>
                    <a:pt x="965120" y="1606277"/>
                  </a:moveTo>
                  <a:cubicBezTo>
                    <a:pt x="983327" y="1585924"/>
                    <a:pt x="1009342" y="1574291"/>
                    <a:pt x="1036650" y="1574291"/>
                  </a:cubicBezTo>
                  <a:lnTo>
                    <a:pt x="3213538" y="1574626"/>
                  </a:lnTo>
                  <a:cubicBezTo>
                    <a:pt x="3236413" y="1574639"/>
                    <a:pt x="3258355" y="1565561"/>
                    <a:pt x="3274534" y="1549390"/>
                  </a:cubicBezTo>
                  <a:cubicBezTo>
                    <a:pt x="3290713" y="1533220"/>
                    <a:pt x="3299803" y="1511283"/>
                    <a:pt x="3299803" y="1488408"/>
                  </a:cubicBezTo>
                  <a:lnTo>
                    <a:pt x="3299803" y="86219"/>
                  </a:lnTo>
                  <a:cubicBezTo>
                    <a:pt x="3299803" y="63352"/>
                    <a:pt x="3290719" y="41422"/>
                    <a:pt x="3274550" y="25253"/>
                  </a:cubicBezTo>
                  <a:cubicBezTo>
                    <a:pt x="3258381" y="9084"/>
                    <a:pt x="3236451" y="0"/>
                    <a:pt x="3213584" y="0"/>
                  </a:cubicBezTo>
                  <a:lnTo>
                    <a:pt x="303022" y="0"/>
                  </a:lnTo>
                  <a:cubicBezTo>
                    <a:pt x="278489" y="-1"/>
                    <a:pt x="255117" y="10450"/>
                    <a:pt x="238760" y="28735"/>
                  </a:cubicBezTo>
                  <a:lnTo>
                    <a:pt x="21960" y="271092"/>
                  </a:lnTo>
                  <a:cubicBezTo>
                    <a:pt x="7818" y="286900"/>
                    <a:pt x="0" y="307366"/>
                    <a:pt x="0" y="328576"/>
                  </a:cubicBezTo>
                  <a:lnTo>
                    <a:pt x="0" y="1656375"/>
                  </a:lnTo>
                  <a:cubicBezTo>
                    <a:pt x="4" y="1703990"/>
                    <a:pt x="38604" y="1742587"/>
                    <a:pt x="86219" y="1742587"/>
                  </a:cubicBezTo>
                  <a:lnTo>
                    <a:pt x="804624" y="1742587"/>
                  </a:lnTo>
                  <a:cubicBezTo>
                    <a:pt x="829157" y="1742588"/>
                    <a:pt x="852529" y="1732137"/>
                    <a:pt x="868886" y="1713853"/>
                  </a:cubicBezTo>
                  <a:lnTo>
                    <a:pt x="965120" y="1606277"/>
                  </a:lnTo>
                  <a:close/>
                </a:path>
              </a:pathLst>
            </a:custGeom>
            <a:solidFill>
              <a:srgbClr val="3D4726"/>
            </a:solidFill>
            <a:ln w="12700" cap="rnd">
              <a:solidFill>
                <a:srgbClr val="000000"/>
              </a:solidFill>
              <a:prstDash val="solid"/>
              <a:round/>
            </a:ln>
          </p:spPr>
        </p:sp>
      </p:grpSp>
      <p:grpSp>
        <p:nvGrpSpPr>
          <p:cNvPr id="4" name="Group 4"/>
          <p:cNvGrpSpPr/>
          <p:nvPr/>
        </p:nvGrpSpPr>
        <p:grpSpPr>
          <a:xfrm>
            <a:off x="10429875" y="4944226"/>
            <a:ext cx="6829425" cy="3429622"/>
            <a:chOff x="0" y="0"/>
            <a:chExt cx="2088339" cy="1048728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088339" cy="1048728"/>
            </a:xfrm>
            <a:custGeom>
              <a:avLst/>
              <a:gdLst/>
              <a:ahLst/>
              <a:cxnLst/>
              <a:rect l="l" t="t" r="r" b="b"/>
              <a:pathLst>
                <a:path w="2088339" h="1048728">
                  <a:moveTo>
                    <a:pt x="0" y="124380"/>
                  </a:moveTo>
                  <a:lnTo>
                    <a:pt x="0" y="652571"/>
                  </a:lnTo>
                  <a:cubicBezTo>
                    <a:pt x="0" y="721264"/>
                    <a:pt x="55687" y="776951"/>
                    <a:pt x="124380" y="776951"/>
                  </a:cubicBezTo>
                  <a:lnTo>
                    <a:pt x="267087" y="776951"/>
                  </a:lnTo>
                  <a:cubicBezTo>
                    <a:pt x="303063" y="776951"/>
                    <a:pt x="337276" y="792527"/>
                    <a:pt x="360898" y="819661"/>
                  </a:cubicBezTo>
                  <a:lnTo>
                    <a:pt x="523133" y="1006017"/>
                  </a:lnTo>
                  <a:cubicBezTo>
                    <a:pt x="546755" y="1033151"/>
                    <a:pt x="580969" y="1048728"/>
                    <a:pt x="616944" y="1048728"/>
                  </a:cubicBezTo>
                  <a:lnTo>
                    <a:pt x="1794478" y="1048728"/>
                  </a:lnTo>
                  <a:cubicBezTo>
                    <a:pt x="1830387" y="1048728"/>
                    <a:pt x="1864542" y="1033209"/>
                    <a:pt x="1888162" y="1006163"/>
                  </a:cubicBezTo>
                  <a:lnTo>
                    <a:pt x="2047353" y="823881"/>
                  </a:lnTo>
                  <a:cubicBezTo>
                    <a:pt x="2073777" y="793624"/>
                    <a:pt x="2088338" y="754815"/>
                    <a:pt x="2088339" y="714643"/>
                  </a:cubicBezTo>
                  <a:lnTo>
                    <a:pt x="2088339" y="124380"/>
                  </a:lnTo>
                  <a:cubicBezTo>
                    <a:pt x="2088339" y="91391"/>
                    <a:pt x="2075234" y="59754"/>
                    <a:pt x="2051907" y="36428"/>
                  </a:cubicBezTo>
                  <a:cubicBezTo>
                    <a:pt x="2028580" y="13102"/>
                    <a:pt x="1996942" y="-1"/>
                    <a:pt x="1963954" y="0"/>
                  </a:cubicBezTo>
                  <a:lnTo>
                    <a:pt x="124380" y="0"/>
                  </a:lnTo>
                  <a:cubicBezTo>
                    <a:pt x="55687" y="0"/>
                    <a:pt x="0" y="55687"/>
                    <a:pt x="0" y="124380"/>
                  </a:cubicBezTo>
                  <a:close/>
                </a:path>
              </a:pathLst>
            </a:custGeom>
            <a:blipFill>
              <a:blip r:embed="rId2"/>
              <a:stretch>
                <a:fillRect t="-49565" b="-49565"/>
              </a:stretch>
            </a:blipFill>
          </p:spPr>
        </p:sp>
      </p:grpSp>
      <p:grpSp>
        <p:nvGrpSpPr>
          <p:cNvPr id="6" name="Group 6"/>
          <p:cNvGrpSpPr/>
          <p:nvPr/>
        </p:nvGrpSpPr>
        <p:grpSpPr>
          <a:xfrm>
            <a:off x="10429875" y="1028700"/>
            <a:ext cx="6829425" cy="3672574"/>
            <a:chOff x="0" y="0"/>
            <a:chExt cx="3482081" cy="1872515"/>
          </a:xfrm>
        </p:grpSpPr>
        <p:sp>
          <p:nvSpPr>
            <p:cNvPr id="7" name="Freeform 7"/>
            <p:cNvSpPr/>
            <p:nvPr/>
          </p:nvSpPr>
          <p:spPr>
            <a:xfrm>
              <a:off x="54483" y="50038"/>
              <a:ext cx="3372988" cy="1773074"/>
            </a:xfrm>
            <a:custGeom>
              <a:avLst/>
              <a:gdLst/>
              <a:ahLst/>
              <a:cxnLst/>
              <a:rect l="l" t="t" r="r" b="b"/>
              <a:pathLst>
                <a:path w="3372988" h="1773074">
                  <a:moveTo>
                    <a:pt x="3285358" y="1773074"/>
                  </a:moveTo>
                  <a:lnTo>
                    <a:pt x="87757" y="1773074"/>
                  </a:lnTo>
                  <a:cubicBezTo>
                    <a:pt x="39370" y="1773074"/>
                    <a:pt x="0" y="1733831"/>
                    <a:pt x="0" y="1685317"/>
                  </a:cubicBezTo>
                  <a:lnTo>
                    <a:pt x="0" y="87757"/>
                  </a:lnTo>
                  <a:cubicBezTo>
                    <a:pt x="0" y="39370"/>
                    <a:pt x="39243" y="0"/>
                    <a:pt x="87757" y="0"/>
                  </a:cubicBezTo>
                  <a:lnTo>
                    <a:pt x="3285231" y="0"/>
                  </a:lnTo>
                  <a:cubicBezTo>
                    <a:pt x="3333618" y="0"/>
                    <a:pt x="3372988" y="39243"/>
                    <a:pt x="3372988" y="87757"/>
                  </a:cubicBezTo>
                  <a:lnTo>
                    <a:pt x="3372988" y="1685317"/>
                  </a:lnTo>
                  <a:cubicBezTo>
                    <a:pt x="3372988" y="1733704"/>
                    <a:pt x="3333745" y="1773074"/>
                    <a:pt x="3285231" y="1773074"/>
                  </a:cubicBezTo>
                  <a:close/>
                </a:path>
              </a:pathLst>
            </a:custGeom>
            <a:blipFill>
              <a:blip r:embed="rId3"/>
              <a:stretch>
                <a:fillRect t="-4322" b="-4322"/>
              </a:stretch>
            </a:blipFill>
          </p:spPr>
        </p:sp>
        <p:sp>
          <p:nvSpPr>
            <p:cNvPr id="8" name="Freeform 8"/>
            <p:cNvSpPr/>
            <p:nvPr/>
          </p:nvSpPr>
          <p:spPr>
            <a:xfrm>
              <a:off x="0" y="0"/>
              <a:ext cx="3481954" cy="1872388"/>
            </a:xfrm>
            <a:custGeom>
              <a:avLst/>
              <a:gdLst/>
              <a:ahLst/>
              <a:cxnLst/>
              <a:rect l="l" t="t" r="r" b="b"/>
              <a:pathLst>
                <a:path w="3481954" h="1872388">
                  <a:moveTo>
                    <a:pt x="0" y="91567"/>
                  </a:moveTo>
                  <a:lnTo>
                    <a:pt x="0" y="1780821"/>
                  </a:lnTo>
                  <a:cubicBezTo>
                    <a:pt x="0" y="1831367"/>
                    <a:pt x="41021" y="1872388"/>
                    <a:pt x="91567" y="1872388"/>
                  </a:cubicBezTo>
                  <a:lnTo>
                    <a:pt x="3390387" y="1872388"/>
                  </a:lnTo>
                  <a:cubicBezTo>
                    <a:pt x="3440933" y="1872388"/>
                    <a:pt x="3481954" y="1831367"/>
                    <a:pt x="3481954" y="1780821"/>
                  </a:cubicBezTo>
                  <a:lnTo>
                    <a:pt x="3481954" y="91567"/>
                  </a:lnTo>
                  <a:cubicBezTo>
                    <a:pt x="3481954" y="41021"/>
                    <a:pt x="3440933" y="0"/>
                    <a:pt x="3390387" y="0"/>
                  </a:cubicBezTo>
                  <a:lnTo>
                    <a:pt x="91567" y="0"/>
                  </a:lnTo>
                  <a:cubicBezTo>
                    <a:pt x="41021" y="0"/>
                    <a:pt x="0" y="41021"/>
                    <a:pt x="0" y="91567"/>
                  </a:cubicBezTo>
                  <a:close/>
                  <a:moveTo>
                    <a:pt x="2640198" y="331724"/>
                  </a:moveTo>
                  <a:lnTo>
                    <a:pt x="3299328" y="331724"/>
                  </a:lnTo>
                  <a:cubicBezTo>
                    <a:pt x="3349874" y="331724"/>
                    <a:pt x="3390895" y="372745"/>
                    <a:pt x="3390895" y="423291"/>
                  </a:cubicBezTo>
                  <a:lnTo>
                    <a:pt x="3390895" y="1689762"/>
                  </a:lnTo>
                  <a:cubicBezTo>
                    <a:pt x="3390895" y="1740308"/>
                    <a:pt x="3349874" y="1781329"/>
                    <a:pt x="3299328" y="1781329"/>
                  </a:cubicBezTo>
                  <a:lnTo>
                    <a:pt x="182753" y="1781329"/>
                  </a:lnTo>
                  <a:cubicBezTo>
                    <a:pt x="132207" y="1781329"/>
                    <a:pt x="91186" y="1740308"/>
                    <a:pt x="91186" y="1689762"/>
                  </a:cubicBezTo>
                  <a:lnTo>
                    <a:pt x="91186" y="182753"/>
                  </a:lnTo>
                  <a:cubicBezTo>
                    <a:pt x="91186" y="132207"/>
                    <a:pt x="132207" y="91186"/>
                    <a:pt x="182753" y="91186"/>
                  </a:cubicBezTo>
                  <a:lnTo>
                    <a:pt x="2343145" y="91186"/>
                  </a:lnTo>
                  <a:cubicBezTo>
                    <a:pt x="2369180" y="91186"/>
                    <a:pt x="2394072" y="102235"/>
                    <a:pt x="2411471" y="121666"/>
                  </a:cubicBezTo>
                  <a:lnTo>
                    <a:pt x="2572126" y="301244"/>
                  </a:lnTo>
                  <a:cubicBezTo>
                    <a:pt x="2589525" y="320675"/>
                    <a:pt x="2614290" y="331724"/>
                    <a:pt x="2640452" y="331724"/>
                  </a:cubicBezTo>
                  <a:lnTo>
                    <a:pt x="2640198" y="331724"/>
                  </a:lnTo>
                  <a:close/>
                </a:path>
              </a:pathLst>
            </a:custGeom>
            <a:solidFill>
              <a:srgbClr val="1F1F1F"/>
            </a:solidFill>
          </p:spPr>
        </p:sp>
      </p:grpSp>
      <p:sp>
        <p:nvSpPr>
          <p:cNvPr id="9" name="Freeform 9"/>
          <p:cNvSpPr/>
          <p:nvPr/>
        </p:nvSpPr>
        <p:spPr>
          <a:xfrm>
            <a:off x="813557" y="7857141"/>
            <a:ext cx="1624579" cy="1763109"/>
          </a:xfrm>
          <a:custGeom>
            <a:avLst/>
            <a:gdLst/>
            <a:ahLst/>
            <a:cxnLst/>
            <a:rect l="l" t="t" r="r" b="b"/>
            <a:pathLst>
              <a:path w="1624579" h="1763109">
                <a:moveTo>
                  <a:pt x="0" y="0"/>
                </a:moveTo>
                <a:lnTo>
                  <a:pt x="1624579" y="0"/>
                </a:lnTo>
                <a:lnTo>
                  <a:pt x="1624579" y="1763109"/>
                </a:lnTo>
                <a:lnTo>
                  <a:pt x="0" y="176310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grpSp>
        <p:nvGrpSpPr>
          <p:cNvPr id="10" name="Group 10"/>
          <p:cNvGrpSpPr/>
          <p:nvPr/>
        </p:nvGrpSpPr>
        <p:grpSpPr>
          <a:xfrm>
            <a:off x="471733" y="0"/>
            <a:ext cx="10408890" cy="4021358"/>
            <a:chOff x="0" y="0"/>
            <a:chExt cx="13878519" cy="5361810"/>
          </a:xfrm>
        </p:grpSpPr>
        <p:sp>
          <p:nvSpPr>
            <p:cNvPr id="11" name="TextBox 11"/>
            <p:cNvSpPr txBox="1"/>
            <p:nvPr/>
          </p:nvSpPr>
          <p:spPr>
            <a:xfrm>
              <a:off x="0" y="2086942"/>
              <a:ext cx="10979963" cy="327486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4879"/>
                </a:lnSpc>
              </a:pPr>
              <a:r>
                <a:rPr lang="en-US" sz="4066" spc="-223">
                  <a:solidFill>
                    <a:srgbClr val="FFF7F7"/>
                  </a:solidFill>
                  <a:latin typeface="Work Sans"/>
                  <a:ea typeface="Work Sans"/>
                  <a:cs typeface="Work Sans"/>
                  <a:sym typeface="Work Sans"/>
                </a:rPr>
                <a:t>•Global plant-based snack trend</a:t>
              </a:r>
            </a:p>
            <a:p>
              <a:pPr marL="0" lvl="0" indent="0" algn="l">
                <a:lnSpc>
                  <a:spcPts val="4879"/>
                </a:lnSpc>
              </a:pPr>
              <a:r>
                <a:rPr lang="en-US" sz="4066" spc="-223">
                  <a:solidFill>
                    <a:srgbClr val="FFF7F7"/>
                  </a:solidFill>
                  <a:latin typeface="Work Sans"/>
                  <a:ea typeface="Work Sans"/>
                  <a:cs typeface="Work Sans"/>
                  <a:sym typeface="Work Sans"/>
                </a:rPr>
                <a:t>•Rising demand globally</a:t>
              </a:r>
            </a:p>
            <a:p>
              <a:pPr marL="0" lvl="0" indent="0" algn="l">
                <a:lnSpc>
                  <a:spcPts val="4879"/>
                </a:lnSpc>
              </a:pPr>
              <a:r>
                <a:rPr lang="en-US" sz="4066" spc="-223">
                  <a:solidFill>
                    <a:srgbClr val="FFF7F7"/>
                  </a:solidFill>
                  <a:latin typeface="Work Sans"/>
                  <a:ea typeface="Work Sans"/>
                  <a:cs typeface="Work Sans"/>
                  <a:sym typeface="Work Sans"/>
                </a:rPr>
                <a:t>• Makhana recognized as superfood</a:t>
              </a:r>
            </a:p>
            <a:p>
              <a:pPr marL="0" lvl="0" indent="0" algn="l">
                <a:lnSpc>
                  <a:spcPts val="4879"/>
                </a:lnSpc>
              </a:pPr>
              <a:r>
                <a:rPr lang="en-US" sz="4066" spc="-223">
                  <a:solidFill>
                    <a:srgbClr val="FFF7F7"/>
                  </a:solidFill>
                  <a:latin typeface="Work Sans"/>
                  <a:ea typeface="Work Sans"/>
                  <a:cs typeface="Work Sans"/>
                  <a:sym typeface="Work Sans"/>
                </a:rPr>
                <a:t>• Improves BIhar Economy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171450"/>
              <a:ext cx="13878519" cy="168890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9182"/>
                </a:lnSpc>
              </a:pPr>
              <a:r>
                <a:rPr lang="en-US" sz="9182" b="1" spc="-505">
                  <a:solidFill>
                    <a:srgbClr val="FFF7F7"/>
                  </a:solidFill>
                  <a:latin typeface="Work Sans Semi-Bold"/>
                  <a:ea typeface="Work Sans Semi-Bold"/>
                  <a:cs typeface="Work Sans Semi-Bold"/>
                  <a:sym typeface="Work Sans Semi-Bold"/>
                </a:rPr>
                <a:t>WHY NOW?</a:t>
              </a: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1F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66750" y="666750"/>
            <a:ext cx="16954500" cy="8953500"/>
            <a:chOff x="0" y="0"/>
            <a:chExt cx="3299803" cy="174259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299803" cy="1742587"/>
            </a:xfrm>
            <a:custGeom>
              <a:avLst/>
              <a:gdLst/>
              <a:ahLst/>
              <a:cxnLst/>
              <a:rect l="l" t="t" r="r" b="b"/>
              <a:pathLst>
                <a:path w="3299803" h="1742587">
                  <a:moveTo>
                    <a:pt x="965120" y="1606277"/>
                  </a:moveTo>
                  <a:cubicBezTo>
                    <a:pt x="983327" y="1585924"/>
                    <a:pt x="1009342" y="1574291"/>
                    <a:pt x="1036650" y="1574291"/>
                  </a:cubicBezTo>
                  <a:lnTo>
                    <a:pt x="3213538" y="1574626"/>
                  </a:lnTo>
                  <a:cubicBezTo>
                    <a:pt x="3236413" y="1574639"/>
                    <a:pt x="3258355" y="1565561"/>
                    <a:pt x="3274534" y="1549390"/>
                  </a:cubicBezTo>
                  <a:cubicBezTo>
                    <a:pt x="3290713" y="1533220"/>
                    <a:pt x="3299803" y="1511283"/>
                    <a:pt x="3299803" y="1488408"/>
                  </a:cubicBezTo>
                  <a:lnTo>
                    <a:pt x="3299803" y="86219"/>
                  </a:lnTo>
                  <a:cubicBezTo>
                    <a:pt x="3299803" y="63352"/>
                    <a:pt x="3290719" y="41422"/>
                    <a:pt x="3274550" y="25253"/>
                  </a:cubicBezTo>
                  <a:cubicBezTo>
                    <a:pt x="3258381" y="9084"/>
                    <a:pt x="3236451" y="0"/>
                    <a:pt x="3213584" y="0"/>
                  </a:cubicBezTo>
                  <a:lnTo>
                    <a:pt x="303022" y="0"/>
                  </a:lnTo>
                  <a:cubicBezTo>
                    <a:pt x="278489" y="-1"/>
                    <a:pt x="255117" y="10450"/>
                    <a:pt x="238760" y="28735"/>
                  </a:cubicBezTo>
                  <a:lnTo>
                    <a:pt x="21960" y="271092"/>
                  </a:lnTo>
                  <a:cubicBezTo>
                    <a:pt x="7818" y="286900"/>
                    <a:pt x="0" y="307366"/>
                    <a:pt x="0" y="328576"/>
                  </a:cubicBezTo>
                  <a:lnTo>
                    <a:pt x="0" y="1656375"/>
                  </a:lnTo>
                  <a:cubicBezTo>
                    <a:pt x="4" y="1703990"/>
                    <a:pt x="38604" y="1742587"/>
                    <a:pt x="86219" y="1742587"/>
                  </a:cubicBezTo>
                  <a:lnTo>
                    <a:pt x="804624" y="1742587"/>
                  </a:lnTo>
                  <a:cubicBezTo>
                    <a:pt x="829157" y="1742588"/>
                    <a:pt x="852529" y="1732137"/>
                    <a:pt x="868886" y="1713853"/>
                  </a:cubicBezTo>
                  <a:lnTo>
                    <a:pt x="965120" y="1606277"/>
                  </a:lnTo>
                  <a:close/>
                </a:path>
              </a:pathLst>
            </a:custGeom>
            <a:solidFill>
              <a:srgbClr val="3D4726"/>
            </a:solidFill>
            <a:ln w="12700" cap="rnd">
              <a:solidFill>
                <a:srgbClr val="000000"/>
              </a:solidFill>
              <a:prstDash val="solid"/>
              <a:round/>
            </a:ln>
          </p:spPr>
        </p:sp>
      </p:grpSp>
      <p:grpSp>
        <p:nvGrpSpPr>
          <p:cNvPr id="4" name="Group 4"/>
          <p:cNvGrpSpPr/>
          <p:nvPr/>
        </p:nvGrpSpPr>
        <p:grpSpPr>
          <a:xfrm>
            <a:off x="10429875" y="4944226"/>
            <a:ext cx="6829425" cy="3429622"/>
            <a:chOff x="0" y="0"/>
            <a:chExt cx="2088339" cy="1048728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088339" cy="1048728"/>
            </a:xfrm>
            <a:custGeom>
              <a:avLst/>
              <a:gdLst/>
              <a:ahLst/>
              <a:cxnLst/>
              <a:rect l="l" t="t" r="r" b="b"/>
              <a:pathLst>
                <a:path w="2088339" h="1048728">
                  <a:moveTo>
                    <a:pt x="0" y="124380"/>
                  </a:moveTo>
                  <a:lnTo>
                    <a:pt x="0" y="652571"/>
                  </a:lnTo>
                  <a:cubicBezTo>
                    <a:pt x="0" y="721264"/>
                    <a:pt x="55687" y="776951"/>
                    <a:pt x="124380" y="776951"/>
                  </a:cubicBezTo>
                  <a:lnTo>
                    <a:pt x="267087" y="776951"/>
                  </a:lnTo>
                  <a:cubicBezTo>
                    <a:pt x="303063" y="776951"/>
                    <a:pt x="337276" y="792527"/>
                    <a:pt x="360898" y="819661"/>
                  </a:cubicBezTo>
                  <a:lnTo>
                    <a:pt x="523133" y="1006017"/>
                  </a:lnTo>
                  <a:cubicBezTo>
                    <a:pt x="546755" y="1033151"/>
                    <a:pt x="580969" y="1048728"/>
                    <a:pt x="616944" y="1048728"/>
                  </a:cubicBezTo>
                  <a:lnTo>
                    <a:pt x="1794478" y="1048728"/>
                  </a:lnTo>
                  <a:cubicBezTo>
                    <a:pt x="1830387" y="1048728"/>
                    <a:pt x="1864542" y="1033209"/>
                    <a:pt x="1888162" y="1006163"/>
                  </a:cubicBezTo>
                  <a:lnTo>
                    <a:pt x="2047353" y="823881"/>
                  </a:lnTo>
                  <a:cubicBezTo>
                    <a:pt x="2073777" y="793624"/>
                    <a:pt x="2088338" y="754815"/>
                    <a:pt x="2088339" y="714643"/>
                  </a:cubicBezTo>
                  <a:lnTo>
                    <a:pt x="2088339" y="124380"/>
                  </a:lnTo>
                  <a:cubicBezTo>
                    <a:pt x="2088339" y="91391"/>
                    <a:pt x="2075234" y="59754"/>
                    <a:pt x="2051907" y="36428"/>
                  </a:cubicBezTo>
                  <a:cubicBezTo>
                    <a:pt x="2028580" y="13102"/>
                    <a:pt x="1996942" y="-1"/>
                    <a:pt x="1963954" y="0"/>
                  </a:cubicBezTo>
                  <a:lnTo>
                    <a:pt x="124380" y="0"/>
                  </a:lnTo>
                  <a:cubicBezTo>
                    <a:pt x="55687" y="0"/>
                    <a:pt x="0" y="55687"/>
                    <a:pt x="0" y="124380"/>
                  </a:cubicBezTo>
                  <a:close/>
                </a:path>
              </a:pathLst>
            </a:custGeom>
            <a:blipFill>
              <a:blip r:embed="rId2"/>
              <a:stretch>
                <a:fillRect t="-49565" b="-49565"/>
              </a:stretch>
            </a:blipFill>
          </p:spPr>
        </p:sp>
      </p:grpSp>
      <p:grpSp>
        <p:nvGrpSpPr>
          <p:cNvPr id="6" name="Group 6"/>
          <p:cNvGrpSpPr/>
          <p:nvPr/>
        </p:nvGrpSpPr>
        <p:grpSpPr>
          <a:xfrm>
            <a:off x="10429875" y="1028700"/>
            <a:ext cx="6829425" cy="3672574"/>
            <a:chOff x="0" y="0"/>
            <a:chExt cx="3482081" cy="1872515"/>
          </a:xfrm>
        </p:grpSpPr>
        <p:sp>
          <p:nvSpPr>
            <p:cNvPr id="7" name="Freeform 7"/>
            <p:cNvSpPr/>
            <p:nvPr/>
          </p:nvSpPr>
          <p:spPr>
            <a:xfrm>
              <a:off x="54483" y="50038"/>
              <a:ext cx="3372988" cy="1773074"/>
            </a:xfrm>
            <a:custGeom>
              <a:avLst/>
              <a:gdLst/>
              <a:ahLst/>
              <a:cxnLst/>
              <a:rect l="l" t="t" r="r" b="b"/>
              <a:pathLst>
                <a:path w="3372988" h="1773074">
                  <a:moveTo>
                    <a:pt x="3285358" y="1773074"/>
                  </a:moveTo>
                  <a:lnTo>
                    <a:pt x="87757" y="1773074"/>
                  </a:lnTo>
                  <a:cubicBezTo>
                    <a:pt x="39370" y="1773074"/>
                    <a:pt x="0" y="1733831"/>
                    <a:pt x="0" y="1685317"/>
                  </a:cubicBezTo>
                  <a:lnTo>
                    <a:pt x="0" y="87757"/>
                  </a:lnTo>
                  <a:cubicBezTo>
                    <a:pt x="0" y="39370"/>
                    <a:pt x="39243" y="0"/>
                    <a:pt x="87757" y="0"/>
                  </a:cubicBezTo>
                  <a:lnTo>
                    <a:pt x="3285231" y="0"/>
                  </a:lnTo>
                  <a:cubicBezTo>
                    <a:pt x="3333618" y="0"/>
                    <a:pt x="3372988" y="39243"/>
                    <a:pt x="3372988" y="87757"/>
                  </a:cubicBezTo>
                  <a:lnTo>
                    <a:pt x="3372988" y="1685317"/>
                  </a:lnTo>
                  <a:cubicBezTo>
                    <a:pt x="3372988" y="1733704"/>
                    <a:pt x="3333745" y="1773074"/>
                    <a:pt x="3285231" y="1773074"/>
                  </a:cubicBezTo>
                  <a:close/>
                </a:path>
              </a:pathLst>
            </a:custGeom>
            <a:blipFill>
              <a:blip r:embed="rId3"/>
              <a:stretch>
                <a:fillRect t="-4322" b="-4322"/>
              </a:stretch>
            </a:blipFill>
          </p:spPr>
        </p:sp>
        <p:sp>
          <p:nvSpPr>
            <p:cNvPr id="8" name="Freeform 8"/>
            <p:cNvSpPr/>
            <p:nvPr/>
          </p:nvSpPr>
          <p:spPr>
            <a:xfrm>
              <a:off x="0" y="0"/>
              <a:ext cx="3481954" cy="1872388"/>
            </a:xfrm>
            <a:custGeom>
              <a:avLst/>
              <a:gdLst/>
              <a:ahLst/>
              <a:cxnLst/>
              <a:rect l="l" t="t" r="r" b="b"/>
              <a:pathLst>
                <a:path w="3481954" h="1872388">
                  <a:moveTo>
                    <a:pt x="0" y="91567"/>
                  </a:moveTo>
                  <a:lnTo>
                    <a:pt x="0" y="1780821"/>
                  </a:lnTo>
                  <a:cubicBezTo>
                    <a:pt x="0" y="1831367"/>
                    <a:pt x="41021" y="1872388"/>
                    <a:pt x="91567" y="1872388"/>
                  </a:cubicBezTo>
                  <a:lnTo>
                    <a:pt x="3390387" y="1872388"/>
                  </a:lnTo>
                  <a:cubicBezTo>
                    <a:pt x="3440933" y="1872388"/>
                    <a:pt x="3481954" y="1831367"/>
                    <a:pt x="3481954" y="1780821"/>
                  </a:cubicBezTo>
                  <a:lnTo>
                    <a:pt x="3481954" y="91567"/>
                  </a:lnTo>
                  <a:cubicBezTo>
                    <a:pt x="3481954" y="41021"/>
                    <a:pt x="3440933" y="0"/>
                    <a:pt x="3390387" y="0"/>
                  </a:cubicBezTo>
                  <a:lnTo>
                    <a:pt x="91567" y="0"/>
                  </a:lnTo>
                  <a:cubicBezTo>
                    <a:pt x="41021" y="0"/>
                    <a:pt x="0" y="41021"/>
                    <a:pt x="0" y="91567"/>
                  </a:cubicBezTo>
                  <a:close/>
                  <a:moveTo>
                    <a:pt x="2640198" y="331724"/>
                  </a:moveTo>
                  <a:lnTo>
                    <a:pt x="3299328" y="331724"/>
                  </a:lnTo>
                  <a:cubicBezTo>
                    <a:pt x="3349874" y="331724"/>
                    <a:pt x="3390895" y="372745"/>
                    <a:pt x="3390895" y="423291"/>
                  </a:cubicBezTo>
                  <a:lnTo>
                    <a:pt x="3390895" y="1689762"/>
                  </a:lnTo>
                  <a:cubicBezTo>
                    <a:pt x="3390895" y="1740308"/>
                    <a:pt x="3349874" y="1781329"/>
                    <a:pt x="3299328" y="1781329"/>
                  </a:cubicBezTo>
                  <a:lnTo>
                    <a:pt x="182753" y="1781329"/>
                  </a:lnTo>
                  <a:cubicBezTo>
                    <a:pt x="132207" y="1781329"/>
                    <a:pt x="91186" y="1740308"/>
                    <a:pt x="91186" y="1689762"/>
                  </a:cubicBezTo>
                  <a:lnTo>
                    <a:pt x="91186" y="182753"/>
                  </a:lnTo>
                  <a:cubicBezTo>
                    <a:pt x="91186" y="132207"/>
                    <a:pt x="132207" y="91186"/>
                    <a:pt x="182753" y="91186"/>
                  </a:cubicBezTo>
                  <a:lnTo>
                    <a:pt x="2343145" y="91186"/>
                  </a:lnTo>
                  <a:cubicBezTo>
                    <a:pt x="2369180" y="91186"/>
                    <a:pt x="2394072" y="102235"/>
                    <a:pt x="2411471" y="121666"/>
                  </a:cubicBezTo>
                  <a:lnTo>
                    <a:pt x="2572126" y="301244"/>
                  </a:lnTo>
                  <a:cubicBezTo>
                    <a:pt x="2589525" y="320675"/>
                    <a:pt x="2614290" y="331724"/>
                    <a:pt x="2640452" y="331724"/>
                  </a:cubicBezTo>
                  <a:lnTo>
                    <a:pt x="2640198" y="331724"/>
                  </a:lnTo>
                  <a:close/>
                </a:path>
              </a:pathLst>
            </a:custGeom>
            <a:solidFill>
              <a:srgbClr val="1F1F1F"/>
            </a:solidFill>
          </p:spPr>
        </p:sp>
      </p:grpSp>
      <p:sp>
        <p:nvSpPr>
          <p:cNvPr id="9" name="Freeform 9"/>
          <p:cNvSpPr/>
          <p:nvPr/>
        </p:nvSpPr>
        <p:spPr>
          <a:xfrm>
            <a:off x="666750" y="8198990"/>
            <a:ext cx="3585747" cy="1421260"/>
          </a:xfrm>
          <a:custGeom>
            <a:avLst/>
            <a:gdLst/>
            <a:ahLst/>
            <a:cxnLst/>
            <a:rect l="l" t="t" r="r" b="b"/>
            <a:pathLst>
              <a:path w="3585747" h="1421260">
                <a:moveTo>
                  <a:pt x="0" y="0"/>
                </a:moveTo>
                <a:lnTo>
                  <a:pt x="3585747" y="0"/>
                </a:lnTo>
                <a:lnTo>
                  <a:pt x="3585747" y="1421260"/>
                </a:lnTo>
                <a:lnTo>
                  <a:pt x="0" y="142126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a:blipFill>
        </p:spPr>
      </p:sp>
      <p:grpSp>
        <p:nvGrpSpPr>
          <p:cNvPr id="10" name="Group 10"/>
          <p:cNvGrpSpPr/>
          <p:nvPr/>
        </p:nvGrpSpPr>
        <p:grpSpPr>
          <a:xfrm>
            <a:off x="1418733" y="1423379"/>
            <a:ext cx="12901469" cy="5785799"/>
            <a:chOff x="0" y="0"/>
            <a:chExt cx="17201958" cy="7714399"/>
          </a:xfrm>
        </p:grpSpPr>
        <p:sp>
          <p:nvSpPr>
            <p:cNvPr id="11" name="TextBox 11"/>
            <p:cNvSpPr txBox="1"/>
            <p:nvPr/>
          </p:nvSpPr>
          <p:spPr>
            <a:xfrm>
              <a:off x="0" y="2588976"/>
              <a:ext cx="13609295" cy="512542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just">
                <a:lnSpc>
                  <a:spcPts val="6048"/>
                </a:lnSpc>
              </a:pPr>
              <a:endParaRPr/>
            </a:p>
            <a:p>
              <a:pPr algn="l">
                <a:lnSpc>
                  <a:spcPts val="6048"/>
                </a:lnSpc>
              </a:pPr>
              <a:r>
                <a:rPr lang="en-US" sz="5040" spc="-277">
                  <a:solidFill>
                    <a:srgbClr val="FFF7F7"/>
                  </a:solidFill>
                  <a:latin typeface="Work Sans"/>
                  <a:ea typeface="Work Sans"/>
                  <a:cs typeface="Work Sans"/>
                  <a:sym typeface="Work Sans"/>
                </a:rPr>
                <a:t>• Bihar-native sourcing insight</a:t>
              </a:r>
            </a:p>
            <a:p>
              <a:pPr algn="l">
                <a:lnSpc>
                  <a:spcPts val="6048"/>
                </a:lnSpc>
              </a:pPr>
              <a:r>
                <a:rPr lang="en-US" sz="5040" spc="-277">
                  <a:solidFill>
                    <a:srgbClr val="FFF7F7"/>
                  </a:solidFill>
                  <a:latin typeface="Work Sans"/>
                  <a:ea typeface="Work Sans"/>
                  <a:cs typeface="Work Sans"/>
                  <a:sym typeface="Work Sans"/>
                </a:rPr>
                <a:t>• Strong B2B platform ties</a:t>
              </a:r>
            </a:p>
            <a:p>
              <a:pPr algn="l">
                <a:lnSpc>
                  <a:spcPts val="6048"/>
                </a:lnSpc>
              </a:pPr>
              <a:r>
                <a:rPr lang="en-US" sz="5040" spc="-277">
                  <a:solidFill>
                    <a:srgbClr val="FFF7F7"/>
                  </a:solidFill>
                  <a:latin typeface="Work Sans"/>
                  <a:ea typeface="Work Sans"/>
                  <a:cs typeface="Work Sans"/>
                  <a:sym typeface="Work Sans"/>
                </a:rPr>
                <a:t>• Ability to scale brand globally</a:t>
              </a:r>
            </a:p>
            <a:p>
              <a:pPr marL="0" lvl="0" indent="0" algn="l">
                <a:lnSpc>
                  <a:spcPts val="6048"/>
                </a:lnSpc>
              </a:pPr>
              <a:endParaRPr lang="en-US" sz="5040" spc="-277">
                <a:solidFill>
                  <a:srgbClr val="FFF7F7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209550"/>
              <a:ext cx="17201958" cy="20963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11381"/>
                </a:lnSpc>
              </a:pPr>
              <a:r>
                <a:rPr lang="en-US" sz="11381" b="1" spc="-625">
                  <a:solidFill>
                    <a:srgbClr val="FFF7F7"/>
                  </a:solidFill>
                  <a:latin typeface="Work Sans Semi-Bold"/>
                  <a:ea typeface="Work Sans Semi-Bold"/>
                  <a:cs typeface="Work Sans Semi-Bold"/>
                  <a:sym typeface="Work Sans Semi-Bold"/>
                </a:rPr>
                <a:t>WHY ME ?</a:t>
              </a:r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1F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66750" y="666750"/>
            <a:ext cx="16954500" cy="8953500"/>
            <a:chOff x="0" y="0"/>
            <a:chExt cx="3299803" cy="174259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299803" cy="1742587"/>
            </a:xfrm>
            <a:custGeom>
              <a:avLst/>
              <a:gdLst/>
              <a:ahLst/>
              <a:cxnLst/>
              <a:rect l="l" t="t" r="r" b="b"/>
              <a:pathLst>
                <a:path w="3299803" h="1742587">
                  <a:moveTo>
                    <a:pt x="965120" y="1606277"/>
                  </a:moveTo>
                  <a:cubicBezTo>
                    <a:pt x="983327" y="1585924"/>
                    <a:pt x="1009342" y="1574291"/>
                    <a:pt x="1036650" y="1574291"/>
                  </a:cubicBezTo>
                  <a:lnTo>
                    <a:pt x="3213538" y="1574626"/>
                  </a:lnTo>
                  <a:cubicBezTo>
                    <a:pt x="3236413" y="1574639"/>
                    <a:pt x="3258355" y="1565561"/>
                    <a:pt x="3274534" y="1549390"/>
                  </a:cubicBezTo>
                  <a:cubicBezTo>
                    <a:pt x="3290713" y="1533220"/>
                    <a:pt x="3299803" y="1511283"/>
                    <a:pt x="3299803" y="1488408"/>
                  </a:cubicBezTo>
                  <a:lnTo>
                    <a:pt x="3299803" y="86219"/>
                  </a:lnTo>
                  <a:cubicBezTo>
                    <a:pt x="3299803" y="63352"/>
                    <a:pt x="3290719" y="41422"/>
                    <a:pt x="3274550" y="25253"/>
                  </a:cubicBezTo>
                  <a:cubicBezTo>
                    <a:pt x="3258381" y="9084"/>
                    <a:pt x="3236451" y="0"/>
                    <a:pt x="3213584" y="0"/>
                  </a:cubicBezTo>
                  <a:lnTo>
                    <a:pt x="303022" y="0"/>
                  </a:lnTo>
                  <a:cubicBezTo>
                    <a:pt x="278489" y="-1"/>
                    <a:pt x="255117" y="10450"/>
                    <a:pt x="238760" y="28735"/>
                  </a:cubicBezTo>
                  <a:lnTo>
                    <a:pt x="21960" y="271092"/>
                  </a:lnTo>
                  <a:cubicBezTo>
                    <a:pt x="7818" y="286900"/>
                    <a:pt x="0" y="307366"/>
                    <a:pt x="0" y="328576"/>
                  </a:cubicBezTo>
                  <a:lnTo>
                    <a:pt x="0" y="1656375"/>
                  </a:lnTo>
                  <a:cubicBezTo>
                    <a:pt x="4" y="1703990"/>
                    <a:pt x="38604" y="1742587"/>
                    <a:pt x="86219" y="1742587"/>
                  </a:cubicBezTo>
                  <a:lnTo>
                    <a:pt x="804624" y="1742587"/>
                  </a:lnTo>
                  <a:cubicBezTo>
                    <a:pt x="829157" y="1742588"/>
                    <a:pt x="852529" y="1732137"/>
                    <a:pt x="868886" y="1713853"/>
                  </a:cubicBezTo>
                  <a:close/>
                </a:path>
              </a:pathLst>
            </a:custGeom>
            <a:solidFill>
              <a:srgbClr val="545F3C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id="4" name="Freeform 4"/>
          <p:cNvSpPr/>
          <p:nvPr/>
        </p:nvSpPr>
        <p:spPr>
          <a:xfrm>
            <a:off x="7449451" y="3086100"/>
            <a:ext cx="3118873" cy="3786711"/>
          </a:xfrm>
          <a:custGeom>
            <a:avLst/>
            <a:gdLst/>
            <a:ahLst/>
            <a:cxnLst/>
            <a:rect l="l" t="t" r="r" b="b"/>
            <a:pathLst>
              <a:path w="3118873" h="3786711">
                <a:moveTo>
                  <a:pt x="0" y="0"/>
                </a:moveTo>
                <a:lnTo>
                  <a:pt x="3118873" y="0"/>
                </a:lnTo>
                <a:lnTo>
                  <a:pt x="3118873" y="3786711"/>
                </a:lnTo>
                <a:lnTo>
                  <a:pt x="0" y="378671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5" name="Group 5"/>
          <p:cNvGrpSpPr/>
          <p:nvPr/>
        </p:nvGrpSpPr>
        <p:grpSpPr>
          <a:xfrm>
            <a:off x="5834720" y="666750"/>
            <a:ext cx="12639675" cy="1787927"/>
            <a:chOff x="0" y="0"/>
            <a:chExt cx="16852900" cy="2383903"/>
          </a:xfrm>
        </p:grpSpPr>
        <p:sp>
          <p:nvSpPr>
            <p:cNvPr id="6" name="TextBox 6"/>
            <p:cNvSpPr txBox="1"/>
            <p:nvPr/>
          </p:nvSpPr>
          <p:spPr>
            <a:xfrm>
              <a:off x="0" y="133350"/>
              <a:ext cx="16852900" cy="128481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6999"/>
                </a:lnSpc>
              </a:pPr>
              <a:r>
                <a:rPr lang="en-US" sz="6999" b="1" u="none" strike="noStrike" spc="-384">
                  <a:solidFill>
                    <a:srgbClr val="FFF7F7"/>
                  </a:solidFill>
                  <a:latin typeface="Work Sans Semi-Bold"/>
                  <a:ea typeface="Work Sans Semi-Bold"/>
                  <a:cs typeface="Work Sans Semi-Bold"/>
                  <a:sym typeface="Work Sans Semi-Bold"/>
                </a:rPr>
                <a:t>Business Model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1755253"/>
              <a:ext cx="16852900" cy="62865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600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223717" y="2264795"/>
            <a:ext cx="4010025" cy="1866901"/>
            <a:chOff x="0" y="0"/>
            <a:chExt cx="5346700" cy="2489201"/>
          </a:xfrm>
        </p:grpSpPr>
        <p:sp>
          <p:nvSpPr>
            <p:cNvPr id="9" name="TextBox 9"/>
            <p:cNvSpPr txBox="1"/>
            <p:nvPr/>
          </p:nvSpPr>
          <p:spPr>
            <a:xfrm>
              <a:off x="0" y="0"/>
              <a:ext cx="5346700" cy="10033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just">
                <a:lnSpc>
                  <a:spcPts val="5999"/>
                </a:lnSpc>
                <a:spcBef>
                  <a:spcPct val="0"/>
                </a:spcBef>
              </a:pPr>
              <a:r>
                <a:rPr lang="en-US" sz="4999" b="1" spc="-274">
                  <a:solidFill>
                    <a:srgbClr val="FFF7F7"/>
                  </a:solidFill>
                  <a:latin typeface="Work Sans Semi-Bold"/>
                  <a:ea typeface="Work Sans Semi-Bold"/>
                  <a:cs typeface="Work Sans Semi-Bold"/>
                  <a:sym typeface="Work Sans Semi-Bold"/>
                </a:rPr>
                <a:t>SORUCING 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1530350"/>
              <a:ext cx="5346700" cy="95885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just">
                <a:lnSpc>
                  <a:spcPts val="5849"/>
                </a:lnSpc>
              </a:pPr>
              <a:r>
                <a:rPr lang="en-US" sz="4499" spc="-247">
                  <a:solidFill>
                    <a:srgbClr val="FFF7F7"/>
                  </a:solidFill>
                  <a:latin typeface="Work Sans"/>
                  <a:ea typeface="Work Sans"/>
                  <a:cs typeface="Work Sans"/>
                  <a:sym typeface="Work Sans"/>
                </a:rPr>
                <a:t>Farmers 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833683" y="6382595"/>
            <a:ext cx="5740799" cy="1885950"/>
            <a:chOff x="0" y="0"/>
            <a:chExt cx="7654398" cy="2514600"/>
          </a:xfrm>
        </p:grpSpPr>
        <p:sp>
          <p:nvSpPr>
            <p:cNvPr id="12" name="TextBox 12"/>
            <p:cNvSpPr txBox="1"/>
            <p:nvPr/>
          </p:nvSpPr>
          <p:spPr>
            <a:xfrm>
              <a:off x="0" y="-9525"/>
              <a:ext cx="7654398" cy="10255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just">
                <a:lnSpc>
                  <a:spcPts val="6000"/>
                </a:lnSpc>
                <a:spcBef>
                  <a:spcPct val="0"/>
                </a:spcBef>
              </a:pPr>
              <a:r>
                <a:rPr lang="en-US" sz="5000" b="1" spc="-275">
                  <a:solidFill>
                    <a:srgbClr val="FFF7F7"/>
                  </a:solidFill>
                  <a:latin typeface="Work Sans Semi-Bold"/>
                  <a:ea typeface="Work Sans Semi-Bold"/>
                  <a:cs typeface="Work Sans Semi-Bold"/>
                  <a:sym typeface="Work Sans Semi-Bold"/>
                </a:rPr>
                <a:t>SALES CHANNEL 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1543050"/>
              <a:ext cx="7654398" cy="97155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just">
                <a:lnSpc>
                  <a:spcPts val="5850"/>
                </a:lnSpc>
              </a:pPr>
              <a:r>
                <a:rPr lang="en-US" sz="4500" spc="-247">
                  <a:solidFill>
                    <a:srgbClr val="FFF7F7"/>
                  </a:solidFill>
                  <a:latin typeface="Work Sans"/>
                  <a:ea typeface="Work Sans"/>
                  <a:cs typeface="Work Sans"/>
                  <a:sym typeface="Work Sans"/>
                </a:rPr>
                <a:t>Tradeinida , IndiaMart 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13249275" y="6748251"/>
            <a:ext cx="5521405" cy="1885950"/>
            <a:chOff x="0" y="0"/>
            <a:chExt cx="7361873" cy="2514600"/>
          </a:xfrm>
        </p:grpSpPr>
        <p:sp>
          <p:nvSpPr>
            <p:cNvPr id="15" name="TextBox 15"/>
            <p:cNvSpPr txBox="1"/>
            <p:nvPr/>
          </p:nvSpPr>
          <p:spPr>
            <a:xfrm>
              <a:off x="0" y="-9525"/>
              <a:ext cx="7361873" cy="10255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just">
                <a:lnSpc>
                  <a:spcPts val="6000"/>
                </a:lnSpc>
                <a:spcBef>
                  <a:spcPct val="0"/>
                </a:spcBef>
              </a:pPr>
              <a:r>
                <a:rPr lang="en-US" sz="5000" b="1" spc="-275">
                  <a:solidFill>
                    <a:srgbClr val="FFF7F7"/>
                  </a:solidFill>
                  <a:latin typeface="Work Sans Semi-Bold"/>
                  <a:ea typeface="Work Sans Semi-Bold"/>
                  <a:cs typeface="Work Sans Semi-Bold"/>
                  <a:sym typeface="Work Sans Semi-Bold"/>
                </a:rPr>
                <a:t>REVENUES 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1543050"/>
              <a:ext cx="7361873" cy="97155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just">
                <a:lnSpc>
                  <a:spcPts val="5850"/>
                </a:lnSpc>
              </a:pPr>
              <a:r>
                <a:rPr lang="en-US" sz="4500" spc="-247">
                  <a:solidFill>
                    <a:srgbClr val="FFF7F7"/>
                  </a:solidFill>
                  <a:latin typeface="Work Sans"/>
                  <a:ea typeface="Work Sans"/>
                  <a:cs typeface="Work Sans"/>
                  <a:sym typeface="Work Sans"/>
                </a:rPr>
                <a:t>Bulk B2B Export 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13249275" y="1517083"/>
            <a:ext cx="4010025" cy="3362325"/>
            <a:chOff x="0" y="0"/>
            <a:chExt cx="5346700" cy="4483100"/>
          </a:xfrm>
        </p:grpSpPr>
        <p:sp>
          <p:nvSpPr>
            <p:cNvPr id="18" name="TextBox 18"/>
            <p:cNvSpPr txBox="1"/>
            <p:nvPr/>
          </p:nvSpPr>
          <p:spPr>
            <a:xfrm>
              <a:off x="0" y="0"/>
              <a:ext cx="5346700" cy="10033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just">
                <a:lnSpc>
                  <a:spcPts val="5999"/>
                </a:lnSpc>
                <a:spcBef>
                  <a:spcPct val="0"/>
                </a:spcBef>
              </a:pPr>
              <a:r>
                <a:rPr lang="en-US" sz="4999" b="1" spc="-274">
                  <a:solidFill>
                    <a:srgbClr val="FFF7F7"/>
                  </a:solidFill>
                  <a:latin typeface="Work Sans Semi-Bold"/>
                  <a:ea typeface="Work Sans Semi-Bold"/>
                  <a:cs typeface="Work Sans Semi-Bold"/>
                  <a:sym typeface="Work Sans Semi-Bold"/>
                </a:rPr>
                <a:t>PROCESSING 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0" y="1530350"/>
              <a:ext cx="5346700" cy="295275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971550" lvl="1" indent="-485775" algn="just">
                <a:lnSpc>
                  <a:spcPts val="5850"/>
                </a:lnSpc>
                <a:buFont typeface="Arial"/>
                <a:buChar char="•"/>
              </a:pPr>
              <a:r>
                <a:rPr lang="en-US" sz="4500" spc="-247">
                  <a:solidFill>
                    <a:srgbClr val="FFF7F7"/>
                  </a:solidFill>
                  <a:latin typeface="Work Sans"/>
                  <a:ea typeface="Work Sans"/>
                  <a:cs typeface="Work Sans"/>
                  <a:sym typeface="Work Sans"/>
                </a:rPr>
                <a:t>Roasting </a:t>
              </a:r>
            </a:p>
            <a:p>
              <a:pPr marL="971550" lvl="1" indent="-485775" algn="just">
                <a:lnSpc>
                  <a:spcPts val="5850"/>
                </a:lnSpc>
                <a:buFont typeface="Arial"/>
                <a:buChar char="•"/>
              </a:pPr>
              <a:r>
                <a:rPr lang="en-US" sz="4500" spc="-247">
                  <a:solidFill>
                    <a:srgbClr val="FFF7F7"/>
                  </a:solidFill>
                  <a:latin typeface="Work Sans"/>
                  <a:ea typeface="Work Sans"/>
                  <a:cs typeface="Work Sans"/>
                  <a:sym typeface="Work Sans"/>
                </a:rPr>
                <a:t>Flavouring </a:t>
              </a:r>
            </a:p>
            <a:p>
              <a:pPr marL="971550" lvl="1" indent="-485775" algn="just">
                <a:lnSpc>
                  <a:spcPts val="5850"/>
                </a:lnSpc>
                <a:buFont typeface="Arial"/>
                <a:buChar char="•"/>
              </a:pPr>
              <a:r>
                <a:rPr lang="en-US" sz="4500" spc="-247">
                  <a:solidFill>
                    <a:srgbClr val="FFF7F7"/>
                  </a:solidFill>
                  <a:latin typeface="Work Sans"/>
                  <a:ea typeface="Work Sans"/>
                  <a:cs typeface="Work Sans"/>
                  <a:sym typeface="Work Sans"/>
                </a:rPr>
                <a:t>Packaging</a:t>
              </a:r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1F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734675" y="1028700"/>
            <a:ext cx="6886575" cy="8591550"/>
            <a:chOff x="0" y="0"/>
            <a:chExt cx="1813748" cy="226279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813748" cy="2262795"/>
            </a:xfrm>
            <a:custGeom>
              <a:avLst/>
              <a:gdLst/>
              <a:ahLst/>
              <a:cxnLst/>
              <a:rect l="l" t="t" r="r" b="b"/>
              <a:pathLst>
                <a:path w="1813748" h="2262795">
                  <a:moveTo>
                    <a:pt x="44968" y="0"/>
                  </a:moveTo>
                  <a:lnTo>
                    <a:pt x="1768780" y="0"/>
                  </a:lnTo>
                  <a:cubicBezTo>
                    <a:pt x="1780706" y="0"/>
                    <a:pt x="1792144" y="4738"/>
                    <a:pt x="1800577" y="13171"/>
                  </a:cubicBezTo>
                  <a:cubicBezTo>
                    <a:pt x="1809011" y="21604"/>
                    <a:pt x="1813748" y="33042"/>
                    <a:pt x="1813748" y="44968"/>
                  </a:cubicBezTo>
                  <a:lnTo>
                    <a:pt x="1813748" y="2217827"/>
                  </a:lnTo>
                  <a:cubicBezTo>
                    <a:pt x="1813748" y="2229753"/>
                    <a:pt x="1809011" y="2241191"/>
                    <a:pt x="1800577" y="2249624"/>
                  </a:cubicBezTo>
                  <a:cubicBezTo>
                    <a:pt x="1792144" y="2258057"/>
                    <a:pt x="1780706" y="2262795"/>
                    <a:pt x="1768780" y="2262795"/>
                  </a:cubicBezTo>
                  <a:lnTo>
                    <a:pt x="44968" y="2262795"/>
                  </a:lnTo>
                  <a:cubicBezTo>
                    <a:pt x="33042" y="2262795"/>
                    <a:pt x="21604" y="2258057"/>
                    <a:pt x="13171" y="2249624"/>
                  </a:cubicBezTo>
                  <a:cubicBezTo>
                    <a:pt x="4738" y="2241191"/>
                    <a:pt x="0" y="2229753"/>
                    <a:pt x="0" y="2217827"/>
                  </a:cubicBezTo>
                  <a:lnTo>
                    <a:pt x="0" y="44968"/>
                  </a:lnTo>
                  <a:cubicBezTo>
                    <a:pt x="0" y="33042"/>
                    <a:pt x="4738" y="21604"/>
                    <a:pt x="13171" y="13171"/>
                  </a:cubicBezTo>
                  <a:cubicBezTo>
                    <a:pt x="21604" y="4738"/>
                    <a:pt x="33042" y="0"/>
                    <a:pt x="44968" y="0"/>
                  </a:cubicBezTo>
                  <a:close/>
                </a:path>
              </a:pathLst>
            </a:custGeom>
            <a:solidFill>
              <a:srgbClr val="3D4726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57150"/>
              <a:ext cx="1813748" cy="231994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666750" y="1669505"/>
            <a:ext cx="9763125" cy="7804482"/>
            <a:chOff x="0" y="0"/>
            <a:chExt cx="2115675" cy="1691236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115675" cy="1691236"/>
            </a:xfrm>
            <a:custGeom>
              <a:avLst/>
              <a:gdLst/>
              <a:ahLst/>
              <a:cxnLst/>
              <a:rect l="l" t="t" r="r" b="b"/>
              <a:pathLst>
                <a:path w="2115675" h="1691236">
                  <a:moveTo>
                    <a:pt x="0" y="124380"/>
                  </a:moveTo>
                  <a:lnTo>
                    <a:pt x="0" y="1295078"/>
                  </a:lnTo>
                  <a:cubicBezTo>
                    <a:pt x="0" y="1363771"/>
                    <a:pt x="55687" y="1419458"/>
                    <a:pt x="124380" y="1419458"/>
                  </a:cubicBezTo>
                  <a:lnTo>
                    <a:pt x="267087" y="1419458"/>
                  </a:lnTo>
                  <a:cubicBezTo>
                    <a:pt x="303063" y="1419458"/>
                    <a:pt x="337276" y="1435035"/>
                    <a:pt x="360898" y="1462168"/>
                  </a:cubicBezTo>
                  <a:lnTo>
                    <a:pt x="523133" y="1648524"/>
                  </a:lnTo>
                  <a:cubicBezTo>
                    <a:pt x="546755" y="1675658"/>
                    <a:pt x="580969" y="1691235"/>
                    <a:pt x="616944" y="1691236"/>
                  </a:cubicBezTo>
                  <a:lnTo>
                    <a:pt x="1821814" y="1691236"/>
                  </a:lnTo>
                  <a:cubicBezTo>
                    <a:pt x="1857723" y="1691235"/>
                    <a:pt x="1891879" y="1675716"/>
                    <a:pt x="1915499" y="1648670"/>
                  </a:cubicBezTo>
                  <a:lnTo>
                    <a:pt x="2074689" y="1466388"/>
                  </a:lnTo>
                  <a:cubicBezTo>
                    <a:pt x="2101113" y="1436131"/>
                    <a:pt x="2115674" y="1397322"/>
                    <a:pt x="2115675" y="1357151"/>
                  </a:cubicBezTo>
                  <a:lnTo>
                    <a:pt x="2115675" y="124380"/>
                  </a:lnTo>
                  <a:cubicBezTo>
                    <a:pt x="2115675" y="91391"/>
                    <a:pt x="2102570" y="59754"/>
                    <a:pt x="2079243" y="36428"/>
                  </a:cubicBezTo>
                  <a:cubicBezTo>
                    <a:pt x="2055916" y="13102"/>
                    <a:pt x="2024278" y="-1"/>
                    <a:pt x="1991290" y="0"/>
                  </a:cubicBezTo>
                  <a:lnTo>
                    <a:pt x="124380" y="0"/>
                  </a:lnTo>
                  <a:cubicBezTo>
                    <a:pt x="55687" y="0"/>
                    <a:pt x="0" y="55687"/>
                    <a:pt x="0" y="124380"/>
                  </a:cubicBezTo>
                  <a:close/>
                </a:path>
              </a:pathLst>
            </a:custGeom>
            <a:blipFill>
              <a:blip r:embed="rId2"/>
              <a:stretch>
                <a:fillRect l="-29938" r="-29938"/>
              </a:stretch>
            </a:blipFill>
          </p:spPr>
        </p:sp>
      </p:grpSp>
      <p:sp>
        <p:nvSpPr>
          <p:cNvPr id="7" name="TextBox 7"/>
          <p:cNvSpPr txBox="1"/>
          <p:nvPr/>
        </p:nvSpPr>
        <p:spPr>
          <a:xfrm>
            <a:off x="11178555" y="4352925"/>
            <a:ext cx="5998816" cy="41338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679"/>
              </a:lnSpc>
              <a:spcBef>
                <a:spcPct val="0"/>
              </a:spcBef>
            </a:pPr>
            <a:r>
              <a:rPr lang="en-US" sz="3899" b="1" spc="-214">
                <a:solidFill>
                  <a:srgbClr val="FFF7F7"/>
                </a:solidFill>
                <a:latin typeface="Work Sans Semi-Bold"/>
                <a:ea typeface="Work Sans Semi-Bold"/>
                <a:cs typeface="Work Sans Semi-Bold"/>
                <a:sym typeface="Work Sans Semi-Bold"/>
              </a:rPr>
              <a:t>•Bihar’s Supe</a:t>
            </a:r>
            <a:r>
              <a:rPr lang="en-US" sz="3899" b="1" u="none" strike="noStrike" spc="-214">
                <a:solidFill>
                  <a:srgbClr val="FFF7F7"/>
                </a:solidFill>
                <a:latin typeface="Work Sans Semi-Bold"/>
                <a:ea typeface="Work Sans Semi-Bold"/>
                <a:cs typeface="Work Sans Semi-Bold"/>
                <a:sym typeface="Work Sans Semi-Bold"/>
              </a:rPr>
              <a:t>rfood, Made Global</a:t>
            </a:r>
          </a:p>
          <a:p>
            <a:pPr marL="0" lvl="0" indent="0" algn="l">
              <a:lnSpc>
                <a:spcPts val="4679"/>
              </a:lnSpc>
              <a:spcBef>
                <a:spcPct val="0"/>
              </a:spcBef>
            </a:pPr>
            <a:endParaRPr lang="en-US" sz="3899" b="1" u="none" strike="noStrike" spc="-214">
              <a:solidFill>
                <a:srgbClr val="FFF7F7"/>
              </a:solidFill>
              <a:latin typeface="Work Sans Semi-Bold"/>
              <a:ea typeface="Work Sans Semi-Bold"/>
              <a:cs typeface="Work Sans Semi-Bold"/>
              <a:sym typeface="Work Sans Semi-Bold"/>
            </a:endParaRPr>
          </a:p>
          <a:p>
            <a:pPr marL="0" lvl="0" indent="0" algn="l">
              <a:lnSpc>
                <a:spcPts val="4679"/>
              </a:lnSpc>
              <a:spcBef>
                <a:spcPct val="0"/>
              </a:spcBef>
            </a:pPr>
            <a:r>
              <a:rPr lang="en-US" sz="3899" b="1" u="none" strike="noStrike" spc="-214">
                <a:solidFill>
                  <a:srgbClr val="FFF7F7"/>
                </a:solidFill>
                <a:latin typeface="Work Sans Semi-Bold"/>
                <a:ea typeface="Work Sans Semi-Bold"/>
                <a:cs typeface="Work Sans Semi-Bold"/>
                <a:sym typeface="Work Sans Semi-Bold"/>
              </a:rPr>
              <a:t>•“Empowering farmers. Elevating Bihar. Feeding the world.”</a:t>
            </a:r>
          </a:p>
          <a:p>
            <a:pPr marL="0" lvl="0" indent="0" algn="l">
              <a:lnSpc>
                <a:spcPts val="4679"/>
              </a:lnSpc>
              <a:spcBef>
                <a:spcPct val="0"/>
              </a:spcBef>
            </a:pPr>
            <a:endParaRPr lang="en-US" sz="3899" b="1" u="none" strike="noStrike" spc="-214">
              <a:solidFill>
                <a:srgbClr val="FFF7F7"/>
              </a:solidFill>
              <a:latin typeface="Work Sans Semi-Bold"/>
              <a:ea typeface="Work Sans Semi-Bold"/>
              <a:cs typeface="Work Sans Semi-Bold"/>
              <a:sym typeface="Work Sans Semi-Bold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1F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788821" y="1028700"/>
            <a:ext cx="16832429" cy="8591550"/>
            <a:chOff x="0" y="0"/>
            <a:chExt cx="4433232" cy="226279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433232" cy="2262795"/>
            </a:xfrm>
            <a:custGeom>
              <a:avLst/>
              <a:gdLst/>
              <a:ahLst/>
              <a:cxnLst/>
              <a:rect l="l" t="t" r="r" b="b"/>
              <a:pathLst>
                <a:path w="4433232" h="2262795">
                  <a:moveTo>
                    <a:pt x="18398" y="0"/>
                  </a:moveTo>
                  <a:lnTo>
                    <a:pt x="4414834" y="0"/>
                  </a:lnTo>
                  <a:cubicBezTo>
                    <a:pt x="4419714" y="0"/>
                    <a:pt x="4424394" y="1938"/>
                    <a:pt x="4427844" y="5389"/>
                  </a:cubicBezTo>
                  <a:cubicBezTo>
                    <a:pt x="4431294" y="8839"/>
                    <a:pt x="4433232" y="13518"/>
                    <a:pt x="4433232" y="18398"/>
                  </a:cubicBezTo>
                  <a:lnTo>
                    <a:pt x="4433232" y="2244397"/>
                  </a:lnTo>
                  <a:cubicBezTo>
                    <a:pt x="4433232" y="2254558"/>
                    <a:pt x="4424995" y="2262795"/>
                    <a:pt x="4414834" y="2262795"/>
                  </a:cubicBezTo>
                  <a:lnTo>
                    <a:pt x="18398" y="2262795"/>
                  </a:lnTo>
                  <a:cubicBezTo>
                    <a:pt x="8237" y="2262795"/>
                    <a:pt x="0" y="2254558"/>
                    <a:pt x="0" y="2244397"/>
                  </a:cubicBezTo>
                  <a:lnTo>
                    <a:pt x="0" y="18398"/>
                  </a:lnTo>
                  <a:cubicBezTo>
                    <a:pt x="0" y="8237"/>
                    <a:pt x="8237" y="0"/>
                    <a:pt x="18398" y="0"/>
                  </a:cubicBezTo>
                  <a:close/>
                </a:path>
              </a:pathLst>
            </a:custGeom>
            <a:solidFill>
              <a:srgbClr val="3D4726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57150"/>
              <a:ext cx="4433232" cy="231994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15234483" y="7337362"/>
            <a:ext cx="1753292" cy="1920938"/>
          </a:xfrm>
          <a:custGeom>
            <a:avLst/>
            <a:gdLst/>
            <a:ahLst/>
            <a:cxnLst/>
            <a:rect l="l" t="t" r="r" b="b"/>
            <a:pathLst>
              <a:path w="1753292" h="1920938">
                <a:moveTo>
                  <a:pt x="0" y="0"/>
                </a:moveTo>
                <a:lnTo>
                  <a:pt x="1753292" y="0"/>
                </a:lnTo>
                <a:lnTo>
                  <a:pt x="1753292" y="1920938"/>
                </a:lnTo>
                <a:lnTo>
                  <a:pt x="0" y="192093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-12149961" y="3330758"/>
            <a:ext cx="29409261" cy="29047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22943"/>
              </a:lnSpc>
              <a:spcBef>
                <a:spcPct val="0"/>
              </a:spcBef>
            </a:pPr>
            <a:r>
              <a:rPr lang="en-US" sz="19119" b="1" spc="-1051">
                <a:solidFill>
                  <a:srgbClr val="FFF7F7"/>
                </a:solidFill>
                <a:latin typeface="Work Sans Semi-Bold"/>
                <a:ea typeface="Work Sans Semi-Bold"/>
                <a:cs typeface="Work Sans Semi-Bold"/>
                <a:sym typeface="Work Sans Semi-Bold"/>
              </a:rPr>
              <a:t>THANK YOU 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317</Words>
  <Application>Microsoft Office PowerPoint</Application>
  <PresentationFormat>Custom</PresentationFormat>
  <Paragraphs>71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9" baseType="lpstr">
      <vt:lpstr>Arial</vt:lpstr>
      <vt:lpstr>Work Sans Semi-Bold</vt:lpstr>
      <vt:lpstr>Calibri</vt:lpstr>
      <vt:lpstr>Work Sans Bold</vt:lpstr>
      <vt:lpstr>Work Sans</vt:lpstr>
      <vt:lpstr>Canva Sans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 - Makhana</dc:title>
  <dc:creator>Shristy</dc:creator>
  <dc:description>Presentation - Makhana</dc:description>
  <cp:lastModifiedBy>admin</cp:lastModifiedBy>
  <cp:revision>2</cp:revision>
  <dcterms:created xsi:type="dcterms:W3CDTF">2006-08-16T00:00:00Z</dcterms:created>
  <dcterms:modified xsi:type="dcterms:W3CDTF">2025-11-19T18:56:11Z</dcterms:modified>
  <dc:identifier>DAG5JvOdA10</dc:identifier>
</cp:coreProperties>
</file>